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44" y="33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5/29/2026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6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10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22.png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7.png"/><Relationship Id="rId4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/>
          </p:cNvSpPr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>
            <a:spLocks/>
          </p:cNvSpPr>
          <p:nvPr/>
        </p:nvSpPr>
        <p:spPr>
          <a:xfrm>
            <a:off x="731520" y="128016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DirectoryBlue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dirty="0">
                <a:solidFill>
                  <a:srgbClr val="00D4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Guide with MCP Integration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743200"/>
            <a:ext cx="1371600" cy="27432"/>
          </a:xfrm>
          <a:prstGeom prst="rect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32104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Application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2588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28016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Angular-based Provider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Credentialing System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83280" y="109728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32588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14800" y="128016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from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MCP Context Studio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6126480" y="109728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32588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858000" y="128016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Architecture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MCP Proxy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640080" y="292608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154680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371600" y="310896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Search, Filter, and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Provider Tasks</a:t>
            </a:r>
            <a:endParaRPr lang="en-US" sz="1100" dirty="0"/>
          </a:p>
        </p:txBody>
      </p:sp>
      <p:sp>
        <p:nvSpPr>
          <p:cNvPr id="17" name="Shape 11"/>
          <p:cNvSpPr/>
          <p:nvPr/>
        </p:nvSpPr>
        <p:spPr>
          <a:xfrm>
            <a:off x="3383280" y="292608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3154680"/>
            <a:ext cx="411480" cy="41148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114800" y="310896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Capabilities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Bulk Operations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6126480" y="292608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3154680"/>
            <a:ext cx="411480" cy="411480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858000" y="3108960"/>
            <a:ext cx="1554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Modern UI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32104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71600" y="118872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3716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057400" y="16459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19 · Port 4200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371600" y="237744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4480" y="25603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05740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Backend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2057400" y="28346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Port 3000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1371600" y="356616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4480" y="374904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57400" y="36576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Proxy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2057400" y="40233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· Port 3001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2926080" y="2148840"/>
            <a:ext cx="54864" cy="228600"/>
          </a:xfrm>
          <a:prstGeom prst="rect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Shape 13"/>
          <p:cNvSpPr/>
          <p:nvPr/>
        </p:nvSpPr>
        <p:spPr>
          <a:xfrm>
            <a:off x="2926080" y="3337560"/>
            <a:ext cx="54864" cy="228600"/>
          </a:xfrm>
          <a:prstGeom prst="rect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Shape 14"/>
          <p:cNvSpPr/>
          <p:nvPr/>
        </p:nvSpPr>
        <p:spPr>
          <a:xfrm>
            <a:off x="5303520" y="118872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1371600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98932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IBM MCP Context Studio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989320" y="16459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 · API Gateway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303520" y="2377440"/>
            <a:ext cx="3200400" cy="914400"/>
          </a:xfrm>
          <a:prstGeom prst="roundRect">
            <a:avLst>
              <a:gd name="adj" fmla="val 8000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0" y="2560320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98932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Bob AI Assistant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5989320" y="2834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· Token Management</a:t>
            </a:r>
            <a:endParaRPr lang="en-US" sz="1000" dirty="0"/>
          </a:p>
        </p:txBody>
      </p:sp>
      <p:sp>
        <p:nvSpPr>
          <p:cNvPr id="27" name="Shape 20"/>
          <p:cNvSpPr/>
          <p:nvPr/>
        </p:nvSpPr>
        <p:spPr>
          <a:xfrm>
            <a:off x="4617720" y="1600200"/>
            <a:ext cx="685800" cy="36576"/>
          </a:xfrm>
          <a:prstGeom prst="rect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Shape 21"/>
          <p:cNvSpPr/>
          <p:nvPr/>
        </p:nvSpPr>
        <p:spPr>
          <a:xfrm>
            <a:off x="4617720" y="2788920"/>
            <a:ext cx="685800" cy="36576"/>
          </a:xfrm>
          <a:prstGeom prst="rect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32104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Data 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1463040" cy="2286000"/>
          </a:xfrm>
          <a:prstGeom prst="roundRect">
            <a:avLst>
              <a:gd name="adj" fmla="val 5000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143000" y="1965960"/>
            <a:ext cx="457200" cy="457200"/>
          </a:xfrm>
          <a:prstGeom prst="ellipse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14300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6060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authenticates with MCP Gateway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04288" y="1828800"/>
            <a:ext cx="1463040" cy="2286000"/>
          </a:xfrm>
          <a:prstGeom prst="roundRect">
            <a:avLst>
              <a:gd name="adj" fmla="val 5000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807208" y="1965960"/>
            <a:ext cx="457200" cy="457200"/>
          </a:xfrm>
          <a:prstGeom prst="ellipse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807208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395728" y="26060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queried from Context Studio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68496" y="1828800"/>
            <a:ext cx="1463040" cy="2286000"/>
          </a:xfrm>
          <a:prstGeom prst="roundRect">
            <a:avLst>
              <a:gd name="adj" fmla="val 5000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4471416" y="1965960"/>
            <a:ext cx="457200" cy="457200"/>
          </a:xfrm>
          <a:prstGeom prst="ellipse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471416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059936" y="26060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pushed to MCP Proxy Server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32704" y="1828800"/>
            <a:ext cx="1463040" cy="2286000"/>
          </a:xfrm>
          <a:prstGeom prst="roundRect">
            <a:avLst>
              <a:gd name="adj" fmla="val 5000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6135624" y="1965960"/>
            <a:ext cx="457200" cy="457200"/>
          </a:xfrm>
          <a:prstGeom prst="ellipse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6135624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724144" y="26060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caches and transforms data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96912" y="1828800"/>
            <a:ext cx="1463040" cy="2286000"/>
          </a:xfrm>
          <a:prstGeom prst="roundRect">
            <a:avLst>
              <a:gd name="adj" fmla="val 5000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7799832" y="1965960"/>
            <a:ext cx="457200" cy="457200"/>
          </a:xfrm>
          <a:prstGeom prst="ellipse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7799832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388352" y="26060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fetches from proxy cache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32104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554480" y="1234440"/>
            <a:ext cx="502920" cy="502920"/>
          </a:xfrm>
          <a:prstGeom prst="ellipse">
            <a:avLst/>
          </a:prstGeom>
          <a:solidFill>
            <a:srgbClr val="00A3FF">
              <a:alpha val="20000"/>
            </a:srgbClr>
          </a:solidFill>
          <a:ln w="12700">
            <a:solidFill>
              <a:srgbClr val="00A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3258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Search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Multi-criteria filtering with NPI, task ID, provider name, and more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383280" y="109728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297680" y="1234440"/>
            <a:ext cx="502920" cy="502920"/>
          </a:xfrm>
          <a:prstGeom prst="ellipse">
            <a:avLst/>
          </a:prstGeom>
          <a:solidFill>
            <a:srgbClr val="00A3FF">
              <a:alpha val="20000"/>
            </a:srgbClr>
          </a:solidFill>
          <a:ln w="12700">
            <a:solidFill>
              <a:srgbClr val="00A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3258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Integration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520440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from IBM MCP Context Studio knowledge graph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126480" y="109728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7040880" y="1234440"/>
            <a:ext cx="502920" cy="502920"/>
          </a:xfrm>
          <a:prstGeom prst="ellipse">
            <a:avLst/>
          </a:prstGeom>
          <a:solidFill>
            <a:srgbClr val="00A3FF">
              <a:alpha val="20000"/>
            </a:srgbClr>
          </a:solidFill>
          <a:ln w="12700">
            <a:solidFill>
              <a:srgbClr val="00A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32588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63640" y="18288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Proxy Architecture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263640" y="21031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design with intelligent caching and fallback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640080" y="292608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1554480" y="3063240"/>
            <a:ext cx="502920" cy="502920"/>
          </a:xfrm>
          <a:prstGeom prst="ellipse">
            <a:avLst/>
          </a:prstGeom>
          <a:solidFill>
            <a:srgbClr val="00A3FF">
              <a:alpha val="20000"/>
            </a:srgbClr>
          </a:solidFill>
          <a:ln w="12700">
            <a:solidFill>
              <a:srgbClr val="00A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5920" y="315468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77240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77240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 auth, CORS protection, input validation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3383280" y="292608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4297680" y="3063240"/>
            <a:ext cx="502920" cy="502920"/>
          </a:xfrm>
          <a:prstGeom prst="ellipse">
            <a:avLst/>
          </a:prstGeom>
          <a:solidFill>
            <a:srgbClr val="00A3FF">
              <a:alpha val="20000"/>
            </a:srgbClr>
          </a:solidFill>
          <a:ln w="12700">
            <a:solidFill>
              <a:srgbClr val="00A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89120" y="315468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520440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520440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caching, lazy loading, virtual scrolling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6126480" y="292608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4"/>
          <p:cNvSpPr/>
          <p:nvPr/>
        </p:nvSpPr>
        <p:spPr>
          <a:xfrm>
            <a:off x="7040880" y="3063240"/>
            <a:ext cx="502920" cy="502920"/>
          </a:xfrm>
          <a:prstGeom prst="ellipse">
            <a:avLst/>
          </a:prstGeom>
          <a:solidFill>
            <a:srgbClr val="00A3FF">
              <a:alpha val="20000"/>
            </a:srgbClr>
          </a:solidFill>
          <a:ln w="12700">
            <a:solidFill>
              <a:srgbClr val="00A3F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0" y="315468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263640" y="3657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 &amp; Bulk Ops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263640" y="39319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export capabilities and bulk task operations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32104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Context Studio Integration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22960" y="1188720"/>
            <a:ext cx="457200" cy="457200"/>
          </a:xfrm>
          <a:prstGeom prst="ellipse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82296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63040" y="1143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Source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474720" y="114300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and manual CSV uploads feed Context Studio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01168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822960" y="2148840"/>
            <a:ext cx="457200" cy="457200"/>
          </a:xfrm>
          <a:prstGeom prst="ellipse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2296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63040" y="2103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Knowledge Graph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210312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 nodes extracted with 181 relationships mapped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97180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822960" y="3108960"/>
            <a:ext cx="457200" cy="457200"/>
          </a:xfrm>
          <a:prstGeom prst="ellipse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2296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30632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Ontology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306324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DirectoryBlue ontology linked for structured data queries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393192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822960" y="4069080"/>
            <a:ext cx="457200" cy="457200"/>
          </a:xfrm>
          <a:prstGeom prst="ellipse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22960" y="4069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63040" y="4023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Gateway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4023360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Gateway provides secure access with bearer tokens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32104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Setup Instructions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7863840" cy="640080"/>
          </a:xfrm>
          <a:prstGeom prst="roundRect">
            <a:avLst>
              <a:gd name="adj" fmla="val 11429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143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46304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Clone Repository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1371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github.com/MahendraGodase/DirectoryBlue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828800"/>
            <a:ext cx="7863840" cy="640080"/>
          </a:xfrm>
          <a:prstGeom prst="roundRect">
            <a:avLst>
              <a:gd name="adj" fmla="val 11429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960" y="19202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Dependencies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21488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606040"/>
            <a:ext cx="7863840" cy="640080"/>
          </a:xfrm>
          <a:prstGeom prst="roundRect">
            <a:avLst>
              <a:gd name="adj" fmla="val 11429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2960" y="2697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46304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MCP Proxy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2926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mock-backend &amp;&amp; node mcp-proxy-server.js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383280"/>
            <a:ext cx="7863840" cy="640080"/>
          </a:xfrm>
          <a:prstGeom prst="roundRect">
            <a:avLst>
              <a:gd name="adj" fmla="val 11429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2960" y="34747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463040" y="3429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Backend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463040" y="3703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mock-backend &amp;&amp; set USE_MCP=true &amp;&amp; npm start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" y="4160520"/>
            <a:ext cx="7863840" cy="640080"/>
          </a:xfrm>
          <a:prstGeom prst="roundRect">
            <a:avLst>
              <a:gd name="adj" fmla="val 11429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22960" y="42519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463040" y="4206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Frontend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63040" y="44805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start  (serves on port 4200)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32104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Proxy Server Details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3749040" cy="3657600"/>
          </a:xfrm>
          <a:prstGeom prst="roundRect">
            <a:avLst>
              <a:gd name="adj" fmla="val 2000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ENDPOINTS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/api/mcp/push-data — Bob pushes MCP data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/api/mcp/tasks — Fetch cached tasks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/api/mcp/request-refresh — Request data refresh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/api/health — Proxy health check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32004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22960" y="347472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enabled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tracking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data cache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data transformations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3749040" cy="3657600"/>
          </a:xfrm>
          <a:prstGeom prst="roundRect">
            <a:avLst>
              <a:gd name="adj" fmla="val 2000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37760" y="1234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CONFIGURATION</a:t>
            </a:r>
            <a:endParaRPr lang="en-US" sz="90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645920"/>
            <a:ext cx="457200" cy="457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623560" y="1691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BA4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Location: mock-backend/mcp-proxy-server.js</a:t>
            </a:r>
            <a:endParaRPr lang="en-US" sz="9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19456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23560" y="2240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Port: 3001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4937760" y="28346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FLOW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937760" y="310896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pushes MCP data to proxy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caches and indexes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queries proxy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to mock data on error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32104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Backend Changes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7863840" cy="502920"/>
          </a:xfrm>
          <a:prstGeom prst="roundRect">
            <a:avLst>
              <a:gd name="adj" fmla="val 14545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14300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Location: mock-backend/server.js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" y="1783080"/>
            <a:ext cx="3749040" cy="2926080"/>
          </a:xfrm>
          <a:prstGeom prst="roundRect">
            <a:avLst>
              <a:gd name="adj" fmla="val 2500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822960" y="1920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CHANGES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" y="2240280"/>
            <a:ext cx="3383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direct axios calls to MCP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fetches from MCP Proxy (localhost:3001)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fallback to mock data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parameter forwarding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754880" y="1783080"/>
            <a:ext cx="3749040" cy="2926080"/>
          </a:xfrm>
          <a:prstGeom prst="roundRect">
            <a:avLst>
              <a:gd name="adj" fmla="val 2500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4937760" y="19202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BENEFITS</a:t>
            </a:r>
            <a:endParaRPr lang="en-US" sz="9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28600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49240" y="2286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6517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349240" y="26517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handles MCP authentication</a:t>
            </a:r>
            <a:endParaRPr lang="en-US" sz="110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01752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49240" y="3017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remains simple</a:t>
            </a:r>
            <a:endParaRPr lang="en-US" sz="1100" dirty="0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383280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349240" y="3383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to test and debug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>
            <a:spLocks/>
          </p:cNvSpPr>
          <p:nvPr/>
        </p:nvSpPr>
        <p:spPr>
          <a:xfrm>
            <a:off x="832104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Components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2801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 / Search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325880" y="16002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search interface with filtering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83280" y="109728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6160" y="137160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069080" y="12801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Page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069080" y="16002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information and details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126480" y="109728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37160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812280" y="12801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Contact Page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812280" y="16002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information and support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40080" y="292608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20040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3108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AG-Grid Table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1325880" y="34290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Sortable, filterable data grid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3383280" y="292608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66160" y="320040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069080" y="3108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Filter Dropdowns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4069080" y="34290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filter option loading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6126480" y="2926080"/>
            <a:ext cx="2468880" cy="1554480"/>
          </a:xfrm>
          <a:prstGeom prst="roundRect">
            <a:avLst>
              <a:gd name="adj" fmla="val 4706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3200400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812280" y="310896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Responsive Layout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6812280" y="342900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Mobile-friendly Angular design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32104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 Parameters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143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NPI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Provider Identifier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82880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ID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103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task identifier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256032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77240" y="2606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Source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834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CAQH, Survey, Manual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29184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777240" y="3337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Provider ID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3566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provider ID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402336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77240" y="4069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Provider Name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4297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display name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937760" y="109728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074920" y="11430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Status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74920" y="1371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Pending, In Progress, Completed, etc.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937760" y="182880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5074920" y="18745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Name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74920" y="21031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of task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937760" y="256032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074920" y="26060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 Queue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74920" y="283464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assignment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937760" y="329184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074920" y="333756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 Ranges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74920" y="3566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file and corporate receipt dates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937760" y="402336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5074920" y="40690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Search By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074920" y="42976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or Provider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>
            <a:spLocks/>
          </p:cNvSpPr>
          <p:nvPr/>
        </p:nvSpPr>
        <p:spPr>
          <a:xfrm>
            <a:off x="832104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Model Structure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3749040" cy="3657600"/>
          </a:xfrm>
          <a:prstGeom prst="roundRect">
            <a:avLst>
              <a:gd name="adj" fmla="val 2000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TASK OBJECT PROPERTIES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33832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taskId — Unique identifier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npi — National Provider Identifier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providerId — Internal provider ID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providerName — Display name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taskStatus — Current status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taskName — Type of task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dataSource — CAQH, Survey, Manual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workQueue — Queue assignment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outboundFileDate — File date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corporateReceivedDate — Receipt date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749040" cy="1828800"/>
          </a:xfrm>
          <a:prstGeom prst="roundRect">
            <a:avLst>
              <a:gd name="adj" fmla="val 4000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937760" y="123444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SOURCES</a:t>
            </a:r>
            <a:endParaRPr lang="en-US" sz="9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55448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40680" y="15544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Context Studio — 48 nodes, 181 relationships</a:t>
            </a:r>
            <a:endParaRPr lang="en-US" sz="10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9659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96596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Inventory.csv — 14 provider tasks uploaded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754880" y="3108960"/>
            <a:ext cx="3749040" cy="1645920"/>
          </a:xfrm>
          <a:prstGeom prst="roundRect">
            <a:avLst>
              <a:gd name="adj" fmla="val 4444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1"/>
          <p:cNvSpPr/>
          <p:nvPr/>
        </p:nvSpPr>
        <p:spPr>
          <a:xfrm>
            <a:off x="4937760" y="3246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STATUS VALUES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937760" y="35204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 Info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Review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32104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Context Studio Configuration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2468880" cy="3474720"/>
          </a:xfrm>
          <a:prstGeom prst="roundRect">
            <a:avLst>
              <a:gd name="adj" fmla="val 2963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23444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8288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 DETAILS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" y="214884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ID: ctx_4c0bbed92300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DIRECTORYBLUE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Description: PROVIDERDTA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83280" y="1097280"/>
            <a:ext cx="2468880" cy="3474720"/>
          </a:xfrm>
          <a:prstGeom prst="roundRect">
            <a:avLst>
              <a:gd name="adj" fmla="val 2963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23444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6160" y="18288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SOURCES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566160" y="214884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MahendraGodase/DirectoryBlue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Upload: Inventory.csv (Ready)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126480" y="1097280"/>
            <a:ext cx="2468880" cy="3474720"/>
          </a:xfrm>
          <a:prstGeom prst="roundRect">
            <a:avLst>
              <a:gd name="adj" fmla="val 2963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23444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09360" y="18288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STATISTICS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309360" y="2148840"/>
            <a:ext cx="21031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Nodes Extracted: 48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Relationships: 181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Time: &lt; 1 second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Ontology: directoryBlue linked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>
            <a:spLocks/>
          </p:cNvSpPr>
          <p:nvPr/>
        </p:nvSpPr>
        <p:spPr>
          <a:xfrm>
            <a:off x="832104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Bob AI Assistant Integration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1874520" cy="3474720"/>
          </a:xfrm>
          <a:prstGeom prst="roundRect">
            <a:avLst>
              <a:gd name="adj" fmla="val 3902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234440" y="1280160"/>
            <a:ext cx="594360" cy="594360"/>
          </a:xfrm>
          <a:prstGeom prst="ellipse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3312" y="1399032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0574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MCP Authentication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251460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bearer tokens and x-api-key for Context Studio access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743200" y="1097280"/>
            <a:ext cx="1874520" cy="3474720"/>
          </a:xfrm>
          <a:prstGeom prst="roundRect">
            <a:avLst>
              <a:gd name="adj" fmla="val 3902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3337560" y="1280160"/>
            <a:ext cx="594360" cy="594360"/>
          </a:xfrm>
          <a:prstGeom prst="ellipse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6432" y="1399032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34640" y="20574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Data Querying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2834640" y="251460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natural language commands to query MCP knowledge graph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846320" y="1097280"/>
            <a:ext cx="1874520" cy="3474720"/>
          </a:xfrm>
          <a:prstGeom prst="roundRect">
            <a:avLst>
              <a:gd name="adj" fmla="val 3902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5440680" y="1280160"/>
            <a:ext cx="594360" cy="594360"/>
          </a:xfrm>
          <a:prstGeom prst="ellipse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9552" y="1399032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937760" y="20574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Data Transformation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937760" y="251460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provider records, maps properties to application filters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6949440" y="1097280"/>
            <a:ext cx="1874520" cy="3474720"/>
          </a:xfrm>
          <a:prstGeom prst="roundRect">
            <a:avLst>
              <a:gd name="adj" fmla="val 3902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7543800" y="1280160"/>
            <a:ext cx="594360" cy="594360"/>
          </a:xfrm>
          <a:prstGeom prst="ellipse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62672" y="1399032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40880" y="205740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Data Delivery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7040880" y="251460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 to MCP Proxy Server, provides 14 transformed tasks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32104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Testing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7724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234440" y="11612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Verify All Services Running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34440" y="15087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http://localhost:4200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http://localhost:3000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Proxy: http://localhost:3001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37760" y="105156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074920" y="1143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532120" y="116128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MCP Proxy Health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32120" y="150876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http://localhost:3001/api/health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show 14 tasks cached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301752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77724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234440" y="31272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Search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34440" y="34747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application in browser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Submit without filters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14 tasks display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37760" y="301752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74920" y="3108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532120" y="312724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Filtering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34747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Data Source: Survey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Task Status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filtered results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>
            <a:spLocks/>
          </p:cNvSpPr>
          <p:nvPr/>
        </p:nvSpPr>
        <p:spPr>
          <a:xfrm>
            <a:off x="832104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Troubleshooting Guide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2344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143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Proxy not running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280160" y="1463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if port 3001 is available; restart mcp-proxy-server.js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937760" y="105156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23444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577840" y="11430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data displaying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577840" y="14630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MCP proxy health endpoint returns cached tasks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40080" y="233172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251460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80160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CORS errors in browser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28016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allowed origins in server configuration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4937760" y="233172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251460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577840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Port already in use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5577840" y="2743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Stop-Process -Id (Get-NetTCPConnection -LocalPort PORT).OwningProcess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640080" y="361188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" y="379476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28016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 failures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1280160" y="4023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tokens in .bob/mcp.json; check expiration date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4937760" y="3611880"/>
            <a:ext cx="3931920" cy="1097280"/>
          </a:xfrm>
          <a:prstGeom prst="roundRect">
            <a:avLst>
              <a:gd name="adj" fmla="val 6667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920" y="3794760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5577840" y="3703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Stale data showing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5577840" y="4023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/api/mcp/request-refresh to get fresh MCP data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832104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Project File Structure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7863840" cy="3749040"/>
          </a:xfrm>
          <a:prstGeom prst="roundRect">
            <a:avLst>
              <a:gd name="adj" fmla="val 1951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14400" y="1280160"/>
            <a:ext cx="7315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DirectoryBlue/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src/                          # Angular source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app/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home/                # Search interface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├── about/               # About page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contact/             # Contact page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environments/            # Environment configs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mock-backend/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server.js                # Main backend (port 3000)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mcp-proxy-server.js      # MCP proxy (port 3001)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mcp-service.js           # MCP utilities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.bob/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mcp.json                 # MCP configuration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package.json                 # Frontend dependencies</a:t>
            </a:r>
            <a:endParaRPr lang="en-US" sz="10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000" dirty="0">
                <a:solidFill>
                  <a:srgbClr val="5A7A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angular.json                 # Angular configuration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>
            <a:spLocks/>
          </p:cNvSpPr>
          <p:nvPr/>
        </p:nvSpPr>
        <p:spPr>
          <a:xfrm>
            <a:off x="832104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Endpoints Reference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188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MAIN BACKEND  (PORT 3000)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50876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/api/search-tasks — Search provider tasks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/api/dropdown-options/:type — Get dropdown values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/api/health — Health check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749040" cy="2011680"/>
          </a:xfrm>
          <a:prstGeom prst="roundRect">
            <a:avLst>
              <a:gd name="adj" fmla="val 3636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937760" y="1188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PROXY  (PORT 3001)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937760" y="150876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/api/mcp/push-data — Bob pushes MCP data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/api/mcp/tasks — Fetch cached tasks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/api/mcp/request-refresh — Request data refresh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/api/health — Proxy health check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291840"/>
            <a:ext cx="7863840" cy="1463040"/>
          </a:xfrm>
          <a:prstGeom prst="roundRect">
            <a:avLst>
              <a:gd name="adj" fmla="val 5000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22960" y="34290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QUERY PARAMETERS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" y="37033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dataSource, taskStatus, workQueue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providerName, npi, taskId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providerID, taskName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outboundFileDate, corporateReceivedDate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>
            <a:spLocks/>
          </p:cNvSpPr>
          <p:nvPr/>
        </p:nvSpPr>
        <p:spPr>
          <a:xfrm>
            <a:off x="832104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Environment Configuration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2468880" cy="3474720"/>
          </a:xfrm>
          <a:prstGeom prst="roundRect">
            <a:avLst>
              <a:gd name="adj" fmla="val 2963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2344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822960" y="1600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USE_MCP=true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MCP proxy integration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2606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PORT=3000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2880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backend server port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22960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USE_MCP=false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3886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mock data only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383280" y="1097280"/>
            <a:ext cx="2468880" cy="3474720"/>
          </a:xfrm>
          <a:prstGeom prst="roundRect">
            <a:avLst>
              <a:gd name="adj" fmla="val 2963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566160" y="12344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PROXY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566160" y="1600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PORT=3001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566160" y="1874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proxy server port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566160" y="2606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MCP_GATEWAY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66160" y="2880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MCP Gateway URL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566160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TOKEN_PATH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66160" y="3886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.bob/mcp.json credentials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0" y="1097280"/>
            <a:ext cx="2468880" cy="3474720"/>
          </a:xfrm>
          <a:prstGeom prst="roundRect">
            <a:avLst>
              <a:gd name="adj" fmla="val 2963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309360" y="12344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09360" y="160020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Port: 4200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1874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Angular dev server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309360" y="2606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Proxy Config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09360" y="28803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in angular.json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309360" y="3611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Environment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309360" y="38862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src/environments/ files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>
            <a:spLocks/>
          </p:cNvSpPr>
          <p:nvPr/>
        </p:nvSpPr>
        <p:spPr>
          <a:xfrm>
            <a:off x="832104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Security Features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2468880" cy="3474720"/>
          </a:xfrm>
          <a:prstGeom prst="roundRect">
            <a:avLst>
              <a:gd name="adj" fmla="val 2963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554480" y="1234440"/>
            <a:ext cx="548640" cy="548640"/>
          </a:xfrm>
          <a:prstGeom prst="ellipse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3258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9202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AUTHENTICATION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822960" y="22402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bearer tokens managed by Bob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x-api-key for Context Studio access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expiration: June 20, 2026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83280" y="1097280"/>
            <a:ext cx="2468880" cy="3474720"/>
          </a:xfrm>
          <a:prstGeom prst="roundRect">
            <a:avLst>
              <a:gd name="adj" fmla="val 2963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4297680" y="1234440"/>
            <a:ext cx="548640" cy="548640"/>
          </a:xfrm>
          <a:prstGeom prst="ellipse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3258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66160" y="19202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PROTECTION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3566160" y="22402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enabled with specific origins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on all endpoints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queries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126480" y="1097280"/>
            <a:ext cx="2468880" cy="3474720"/>
          </a:xfrm>
          <a:prstGeom prst="roundRect">
            <a:avLst>
              <a:gd name="adj" fmla="val 2963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7040880" y="1234440"/>
            <a:ext cx="548640" cy="548640"/>
          </a:xfrm>
          <a:prstGeom prst="ellipse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13258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09360" y="19202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PRACTICES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6309360" y="224028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stored in .bob/mcp.json (gitignored)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Environment-based configuration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sensitive data in frontend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>
            <a:spLocks/>
          </p:cNvSpPr>
          <p:nvPr/>
        </p:nvSpPr>
        <p:spPr>
          <a:xfrm>
            <a:off x="832104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Features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2468880" cy="3474720"/>
          </a:xfrm>
          <a:prstGeom prst="roundRect">
            <a:avLst>
              <a:gd name="adj" fmla="val 2963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28016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18745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822960" y="2194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Lazy loading of routes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scrolling in grid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Debounced search inputs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383280" y="1097280"/>
            <a:ext cx="2468880" cy="3474720"/>
          </a:xfrm>
          <a:prstGeom prst="roundRect">
            <a:avLst>
              <a:gd name="adj" fmla="val 2963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28016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66160" y="18745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3566160" y="2194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In-memory caching in proxy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data transformation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parameter filtering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126480" y="1097280"/>
            <a:ext cx="2468880" cy="3474720"/>
          </a:xfrm>
          <a:prstGeom prst="roundRect">
            <a:avLst>
              <a:gd name="adj" fmla="val 2963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86600" y="1280160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309360" y="18745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FLOW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6309360" y="2194560"/>
            <a:ext cx="21031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MCP query for all data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Proxy caches results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fetches from cache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MCP API calls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>
            <a:spLocks/>
          </p:cNvSpPr>
          <p:nvPr/>
        </p:nvSpPr>
        <p:spPr>
          <a:xfrm>
            <a:off x="832104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Enhancements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7863840" cy="640080"/>
          </a:xfrm>
          <a:prstGeom prst="roundRect">
            <a:avLst>
              <a:gd name="adj" fmla="val 11429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22960" y="1143000"/>
            <a:ext cx="457200" cy="457200"/>
          </a:xfrm>
          <a:prstGeom prst="ellipse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1216152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0972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Real-time Data Sync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463040" y="13716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integration with auto-refresh from MCP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40080" y="1828800"/>
            <a:ext cx="7863840" cy="640080"/>
          </a:xfrm>
          <a:prstGeom prst="roundRect">
            <a:avLst>
              <a:gd name="adj" fmla="val 11429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822960" y="1920240"/>
            <a:ext cx="457200" cy="457200"/>
          </a:xfrm>
          <a:prstGeom prst="ellipse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6112" y="199339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63040" y="1874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 Analytics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463040" y="21488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with charts and task aging reports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40080" y="2606040"/>
            <a:ext cx="7863840" cy="640080"/>
          </a:xfrm>
          <a:prstGeom prst="roundRect">
            <a:avLst>
              <a:gd name="adj" fmla="val 11429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822960" y="2697480"/>
            <a:ext cx="457200" cy="457200"/>
          </a:xfrm>
          <a:prstGeom prst="ellipse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6112" y="2770632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2651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User Management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1463040" y="2926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and user preferences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40080" y="3383280"/>
            <a:ext cx="7863840" cy="640080"/>
          </a:xfrm>
          <a:prstGeom prst="roundRect">
            <a:avLst>
              <a:gd name="adj" fmla="val 11429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822960" y="3474720"/>
            <a:ext cx="457200" cy="457200"/>
          </a:xfrm>
          <a:prstGeom prst="ellipse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112" y="3547872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63040" y="3429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Enhanced Search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1463040" y="37033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Full-text search with saved search filters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640080" y="4160520"/>
            <a:ext cx="7863840" cy="640080"/>
          </a:xfrm>
          <a:prstGeom prst="roundRect">
            <a:avLst>
              <a:gd name="adj" fmla="val 11429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0"/>
          <p:cNvSpPr/>
          <p:nvPr/>
        </p:nvSpPr>
        <p:spPr>
          <a:xfrm>
            <a:off x="822960" y="4251960"/>
            <a:ext cx="457200" cy="457200"/>
          </a:xfrm>
          <a:prstGeom prst="ellipse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6112" y="4325112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463040" y="4206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Mobile Support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1463040" y="44805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mobile UI as a Progressive Web App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>
            <a:spLocks/>
          </p:cNvSpPr>
          <p:nvPr/>
        </p:nvSpPr>
        <p:spPr>
          <a:xfrm>
            <a:off x="832104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344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280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371600" y="1600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19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AG-Grid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RxJS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37760" y="105156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2344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0" y="1280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669280" y="1600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24.11.1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301752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20040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3246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INTEGRATION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371600" y="35661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MCP Context Studio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AI Assistant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Gateway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937760" y="301752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320040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69280" y="32461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DEV TOOLS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5669280" y="35661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>
            <a:spLocks/>
          </p:cNvSpPr>
          <p:nvPr/>
        </p:nvSpPr>
        <p:spPr>
          <a:xfrm>
            <a:off x="832104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Metrics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22960" y="1234440"/>
            <a:ext cx="457200" cy="457200"/>
          </a:xfrm>
          <a:prstGeom prst="ellipse">
            <a:avLst/>
          </a:prstGeom>
          <a:solidFill>
            <a:srgbClr val="00E676">
              <a:alpha val="20000"/>
            </a:srgbClr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258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280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3-tier separation achieved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MCP calls from Node.js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proxy pattern implemented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937760" y="105156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5120640" y="1234440"/>
            <a:ext cx="457200" cy="457200"/>
          </a:xfrm>
          <a:prstGeom prst="ellipse">
            <a:avLst/>
          </a:prstGeom>
          <a:solidFill>
            <a:srgbClr val="00E676">
              <a:alpha val="20000"/>
            </a:srgbClr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13258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15000" y="1280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INTEGRATION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5715000" y="1600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real tasks from MCP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providers with complete data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task types represented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40080" y="301752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822960" y="3200400"/>
            <a:ext cx="457200" cy="457200"/>
          </a:xfrm>
          <a:prstGeom prst="ellipse">
            <a:avLst/>
          </a:prstGeom>
          <a:solidFill>
            <a:srgbClr val="00E676">
              <a:alpha val="20000"/>
            </a:srgbClr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3291840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246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1417320" y="35661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 second data load time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caching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937760" y="301752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5120640" y="3200400"/>
            <a:ext cx="457200" cy="457200"/>
          </a:xfrm>
          <a:prstGeom prst="ellipse">
            <a:avLst/>
          </a:prstGeom>
          <a:solidFill>
            <a:srgbClr val="00E676">
              <a:alpha val="20000"/>
            </a:srgbClr>
          </a:solidFill>
          <a:ln w="12700">
            <a:solidFill>
              <a:srgbClr val="00E67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080" y="3291840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15000" y="3246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RELIABILITY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5715000" y="35661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to mock data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checks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>
            <a:spLocks/>
          </p:cNvSpPr>
          <p:nvPr/>
        </p:nvSpPr>
        <p:spPr>
          <a:xfrm>
            <a:off x="832104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Documentation Files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2344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README.md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417320" y="1435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start guide and basic setup instructions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0080" y="201168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1945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MCP_INTEGRATION_GUIDE.md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1417320" y="239572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MCP setup and configuration steps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" y="297180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315468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417320" y="3063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START_APPLICATION.md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1417320" y="335584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startup and terminal commands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640080" y="3931920"/>
            <a:ext cx="7863840" cy="777240"/>
          </a:xfrm>
          <a:prstGeom prst="roundRect">
            <a:avLst>
              <a:gd name="adj" fmla="val 9412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411480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1732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PROJECT_DOCUMENTATION.md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1417320" y="431596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project overview and architecture details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>
            <a:spLocks/>
          </p:cNvSpPr>
          <p:nvPr/>
        </p:nvSpPr>
        <p:spPr>
          <a:xfrm>
            <a:off x="832104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26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Support &amp; Resources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2344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280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CONTACT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371600" y="1600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Mahendra.Godase@ibm.com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37760" y="105156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23444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69280" y="1280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REPOSITORY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5669280" y="160020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MahendraGodase/DirectoryBlue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40080" y="301752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20040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71600" y="3246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MCP RESOURCES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371600" y="35661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Studio: IBM MCP Gateway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ID: ctx_4c0bbed92300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4937760" y="3017520"/>
            <a:ext cx="3931920" cy="1737360"/>
          </a:xfrm>
          <a:prstGeom prst="roundRect">
            <a:avLst>
              <a:gd name="adj" fmla="val 4211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320040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669280" y="3246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TOOLS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5669280" y="356616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AI Assistant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24.11.1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CLI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>
            <a:spLocks/>
          </p:cNvSpPr>
          <p:nvPr/>
        </p:nvSpPr>
        <p:spPr>
          <a:xfrm>
            <a:off x="832104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Reference Commands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05840"/>
            <a:ext cx="7863840" cy="548640"/>
          </a:xfrm>
          <a:prstGeom prst="roundRect">
            <a:avLst>
              <a:gd name="adj" fmla="val 13333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0515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Frontend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126187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start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664208"/>
            <a:ext cx="7863840" cy="548640"/>
          </a:xfrm>
          <a:prstGeom prst="roundRect">
            <a:avLst>
              <a:gd name="adj" fmla="val 13333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822960" y="170992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MCP Proxy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1920240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mock-backend &amp;&amp; node mcp-proxy-server.js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322576"/>
            <a:ext cx="7863840" cy="548640"/>
          </a:xfrm>
          <a:prstGeom prst="roundRect">
            <a:avLst>
              <a:gd name="adj" fmla="val 13333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822960" y="2368296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Main Backend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22960" y="2578608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mock-backend &amp;&amp; set USE_MCP=true &amp;&amp; npm start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2980944"/>
            <a:ext cx="7863840" cy="548640"/>
          </a:xfrm>
          <a:prstGeom prst="roundRect">
            <a:avLst>
              <a:gd name="adj" fmla="val 13333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822960" y="302666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Health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2960" y="3236976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http://localhost:3001/api/health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3639312"/>
            <a:ext cx="7863840" cy="548640"/>
          </a:xfrm>
          <a:prstGeom prst="roundRect">
            <a:avLst>
              <a:gd name="adj" fmla="val 13333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22960" y="368503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View MCP Data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22960" y="3895344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http://localhost:3001/api/mcp/tasks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4297680"/>
            <a:ext cx="7863840" cy="548640"/>
          </a:xfrm>
          <a:prstGeom prst="roundRect">
            <a:avLst>
              <a:gd name="adj" fmla="val 13333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22960" y="43434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Kill Port 3000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2960" y="4553712"/>
            <a:ext cx="7498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0D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Stop-Process -Id (Get-NetTCPConnection -LocalPort 3000).OwningProcess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/>
          </p:cNvSpPr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>
            <a:spLocks/>
          </p:cNvSpPr>
          <p:nvPr/>
        </p:nvSpPr>
        <p:spPr>
          <a:xfrm>
            <a:off x="8321040" y="47091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A7A9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40080" y="320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3749040" cy="3657600"/>
          </a:xfrm>
          <a:prstGeom prst="roundRect">
            <a:avLst>
              <a:gd name="adj" fmla="val 2000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822960" y="1188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SUCCESSFULLY IMPLEMENTED</a:t>
            </a:r>
            <a:endParaRPr lang="en-US" sz="9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554480"/>
            <a:ext cx="228600" cy="228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554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architecture with MCP proxy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965960"/>
            <a:ext cx="228600" cy="2286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143000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integration from Context Studio</a:t>
            </a:r>
            <a:endParaRPr lang="en-US" sz="10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377440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143000" y="2377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provider tasks from Inventory.csv</a:t>
            </a:r>
            <a:endParaRPr lang="en-US" sz="10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788920"/>
            <a:ext cx="228600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3000" y="2788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separation of concerns</a:t>
            </a:r>
            <a:endParaRPr lang="en-US" sz="10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00400"/>
            <a:ext cx="228600" cy="22860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43000" y="3200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error handling and fallbacks</a:t>
            </a:r>
            <a:endParaRPr lang="en-US" sz="1000" dirty="0"/>
          </a:p>
        </p:txBody>
      </p:sp>
      <p:sp>
        <p:nvSpPr>
          <p:cNvPr id="17" name="Shape 10"/>
          <p:cNvSpPr/>
          <p:nvPr/>
        </p:nvSpPr>
        <p:spPr>
          <a:xfrm>
            <a:off x="4754880" y="1051560"/>
            <a:ext cx="3749040" cy="3657600"/>
          </a:xfrm>
          <a:prstGeom prst="roundRect">
            <a:avLst>
              <a:gd name="adj" fmla="val 2000"/>
            </a:avLst>
          </a:prstGeom>
          <a:solidFill>
            <a:srgbClr val="132A42"/>
          </a:solidFill>
          <a:ln w="635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1"/>
          <p:cNvSpPr/>
          <p:nvPr/>
        </p:nvSpPr>
        <p:spPr>
          <a:xfrm>
            <a:off x="4937760" y="11887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A3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ACHIEVEMENTS</a:t>
            </a:r>
            <a:endParaRPr lang="en-US" sz="9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554480"/>
            <a:ext cx="228600" cy="2286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257800" y="15544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axios calls to MCP from Node.js</a:t>
            </a:r>
            <a:endParaRPr lang="en-US" sz="10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965960"/>
            <a:ext cx="228600" cy="22860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257800" y="1965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handles all MCP authentication</a:t>
            </a:r>
            <a:endParaRPr lang="en-US" sz="10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377440"/>
            <a:ext cx="228600" cy="228600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5257800" y="23774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displays real provider data</a:t>
            </a:r>
            <a:endParaRPr lang="en-US" sz="1000" dirty="0"/>
          </a:p>
        </p:txBody>
      </p:sp>
      <p:pic>
        <p:nvPicPr>
          <p:cNvPr id="25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2788920"/>
            <a:ext cx="228600" cy="228600"/>
          </a:xfrm>
          <a:prstGeom prst="rect">
            <a:avLst/>
          </a:prstGeom>
        </p:spPr>
      </p:pic>
      <p:sp>
        <p:nvSpPr>
          <p:cNvPr id="26" name="Text 15"/>
          <p:cNvSpPr/>
          <p:nvPr/>
        </p:nvSpPr>
        <p:spPr>
          <a:xfrm>
            <a:off x="5257800" y="27889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and maintainable architecture</a:t>
            </a:r>
            <a:endParaRPr lang="en-US" sz="1000" dirty="0"/>
          </a:p>
        </p:txBody>
      </p:sp>
      <p:sp>
        <p:nvSpPr>
          <p:cNvPr id="27" name="Shape 16"/>
          <p:cNvSpPr/>
          <p:nvPr/>
        </p:nvSpPr>
        <p:spPr>
          <a:xfrm>
            <a:off x="2286000" y="4114800"/>
            <a:ext cx="4572000" cy="502920"/>
          </a:xfrm>
          <a:prstGeom prst="roundRect">
            <a:avLst>
              <a:gd name="adj" fmla="val 14545"/>
            </a:avLst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17"/>
          <p:cNvSpPr/>
          <p:nvPr/>
        </p:nvSpPr>
        <p:spPr>
          <a:xfrm>
            <a:off x="2286000" y="41148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for Production</a:t>
            </a:r>
            <a:endParaRPr lang="en-US" sz="16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>
            <a:spLocks/>
          </p:cNvSpPr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A3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>
            <a:spLocks/>
          </p:cNvSpPr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DirectoryBlue Application with MCP Integration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Mahendra.Godase@ibm.com  |  github.com/MahendraGodase/DirectoryBlue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1703</Words>
  <Application>Microsoft Office PowerPoint</Application>
  <PresentationFormat>On-screen Show (16:9)</PresentationFormat>
  <Paragraphs>455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Mahendra Godase</cp:lastModifiedBy>
  <cp:revision>2</cp:revision>
  <dcterms:created xsi:type="dcterms:W3CDTF">2013-01-27T09:14:16Z</dcterms:created>
  <dcterms:modified xsi:type="dcterms:W3CDTF">2026-05-29T11:52:37Z</dcterms:modified>
  <cp:category/>
</cp:coreProperties>
</file>