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5F7A"/>
                </a:solidFill>
              </a:defRPr>
            </a:pPr>
            <a:r>
              <a:t>DirectoryBlue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764BA2"/>
                </a:solidFill>
              </a:defRPr>
            </a:pPr>
            <a:r>
              <a:t>Complete Guide with MCP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Application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• Angular-based provider credentialing management system</a:t>
            </a:r>
          </a:p>
          <a:p>
            <a:pPr>
              <a:spcBef>
                <a:spcPts val="1200"/>
              </a:spcBef>
              <a:defRPr sz="1600"/>
            </a:pPr>
            <a:r>
              <a:t>• Real-time data from IBM MCP Context Studio</a:t>
            </a:r>
          </a:p>
          <a:p>
            <a:pPr>
              <a:spcBef>
                <a:spcPts val="1200"/>
              </a:spcBef>
              <a:defRPr sz="1600"/>
            </a:pPr>
            <a:r>
              <a:t>• Three-tier architecture with MCP proxy</a:t>
            </a:r>
          </a:p>
          <a:p>
            <a:pPr>
              <a:spcBef>
                <a:spcPts val="1200"/>
              </a:spcBef>
              <a:defRPr sz="1600"/>
            </a:pPr>
            <a:r>
              <a:t>• Search, filter, and manage provider tasks</a:t>
            </a:r>
          </a:p>
          <a:p>
            <a:pPr>
              <a:spcBef>
                <a:spcPts val="1200"/>
              </a:spcBef>
              <a:defRPr sz="1600"/>
            </a:pPr>
            <a:r>
              <a:t>• Export capabilities and bulk operations</a:t>
            </a:r>
          </a:p>
          <a:p>
            <a:pPr>
              <a:spcBef>
                <a:spcPts val="1200"/>
              </a:spcBef>
              <a:defRPr sz="1600"/>
            </a:pPr>
            <a:r>
              <a:t>• Responsive design with modern UI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🎨 Frontend: Angular 19 (Port 4200)</a:t>
            </a:r>
          </a:p>
          <a:p>
            <a:pPr>
              <a:spcBef>
                <a:spcPts val="1200"/>
              </a:spcBef>
              <a:defRPr sz="1600"/>
            </a:pPr>
            <a:r>
              <a:t>  - Modern component-based UI</a:t>
            </a:r>
          </a:p>
          <a:p>
            <a:pPr>
              <a:spcBef>
                <a:spcPts val="1200"/>
              </a:spcBef>
              <a:defRPr sz="1600"/>
            </a:pPr>
            <a:r>
              <a:t>  - Reactive forms and routing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🔧 Main Backend: Node.js/Express (Port 3000)</a:t>
            </a:r>
          </a:p>
          <a:p>
            <a:pPr>
              <a:spcBef>
                <a:spcPts val="1200"/>
              </a:spcBef>
              <a:defRPr sz="1600"/>
            </a:pPr>
            <a:r>
              <a:t>  - REST API endpoints</a:t>
            </a:r>
          </a:p>
          <a:p>
            <a:pPr>
              <a:spcBef>
                <a:spcPts val="1200"/>
              </a:spcBef>
              <a:defRPr sz="1600"/>
            </a:pPr>
            <a:r>
              <a:t>  - Data transformation layer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🔌 MCP Proxy Server: Node.js (Port 3001)</a:t>
            </a:r>
          </a:p>
          <a:p>
            <a:pPr>
              <a:spcBef>
                <a:spcPts val="1200"/>
              </a:spcBef>
              <a:defRPr sz="1600"/>
            </a:pPr>
            <a:r>
              <a:t>  - Bridge between Bob and application</a:t>
            </a:r>
          </a:p>
          <a:p>
            <a:pPr>
              <a:spcBef>
                <a:spcPts val="1200"/>
              </a:spcBef>
              <a:defRPr sz="1600"/>
            </a:pPr>
            <a:r>
              <a:t>  - Data caching and filtering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🤖 Bob AI Assistant</a:t>
            </a:r>
          </a:p>
          <a:p>
            <a:pPr>
              <a:spcBef>
                <a:spcPts val="1200"/>
              </a:spcBef>
              <a:defRPr sz="1600"/>
            </a:pPr>
            <a:r>
              <a:t>  - Queries MCP Context Studio</a:t>
            </a:r>
          </a:p>
          <a:p>
            <a:pPr>
              <a:spcBef>
                <a:spcPts val="1200"/>
              </a:spcBef>
              <a:defRPr sz="1600"/>
            </a:pPr>
            <a:r>
              <a:t>  - Pushes data to proxy server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MCP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1️⃣ User uploads Invetory.csv to MCP Context Studio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2️⃣ MCP processes CSV → 48 nodes, 181 relationships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3️⃣ Bob queries Context Studio using use_mcp_tool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4️⃣ Bob transforms 14 Task nodes to application format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5️⃣ Bob pushes data to MCP Proxy (POST /api/mcp/push-data)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6️⃣ Angular app requests data from Main Backend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7️⃣ Main Backend fetches from MCP Proxy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8️⃣ Data displayed in grid with real provider information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✅ Search &amp; Filter</a:t>
            </a:r>
          </a:p>
          <a:p>
            <a:pPr>
              <a:spcBef>
                <a:spcPts val="1200"/>
              </a:spcBef>
              <a:defRPr sz="1600"/>
            </a:pPr>
            <a:r>
              <a:t>  - NPI, Task ID, Provider ID, Provider Name</a:t>
            </a:r>
          </a:p>
          <a:p>
            <a:pPr>
              <a:spcBef>
                <a:spcPts val="1200"/>
              </a:spcBef>
              <a:defRPr sz="1600"/>
            </a:pPr>
            <a:r>
              <a:t>  - Data Source, Task Status, Work Queue</a:t>
            </a:r>
          </a:p>
          <a:p>
            <a:pPr>
              <a:spcBef>
                <a:spcPts val="1200"/>
              </a:spcBef>
              <a:defRPr sz="1600"/>
            </a:pPr>
            <a:r>
              <a:t>  - Date range filtering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✅ Data Display</a:t>
            </a:r>
          </a:p>
          <a:p>
            <a:pPr>
              <a:spcBef>
                <a:spcPts val="1200"/>
              </a:spcBef>
              <a:defRPr sz="1600"/>
            </a:pPr>
            <a:r>
              <a:t>  - Sortable columns</a:t>
            </a:r>
          </a:p>
          <a:p>
            <a:pPr>
              <a:spcBef>
                <a:spcPts val="1200"/>
              </a:spcBef>
              <a:defRPr sz="1600"/>
            </a:pPr>
            <a:r>
              <a:t>  - Checkbox selection</a:t>
            </a:r>
          </a:p>
          <a:p>
            <a:pPr>
              <a:spcBef>
                <a:spcPts val="1200"/>
              </a:spcBef>
              <a:defRPr sz="1600"/>
            </a:pPr>
            <a:r>
              <a:t>  - Real-time updates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✅ Export &amp; Operations</a:t>
            </a:r>
          </a:p>
          <a:p>
            <a:pPr>
              <a:spcBef>
                <a:spcPts val="1200"/>
              </a:spcBef>
              <a:defRPr sz="1600"/>
            </a:pPr>
            <a:r>
              <a:t>  - Export to Excel</a:t>
            </a:r>
          </a:p>
          <a:p>
            <a:pPr>
              <a:spcBef>
                <a:spcPts val="1200"/>
              </a:spcBef>
              <a:defRPr sz="1600"/>
            </a:pPr>
            <a:r>
              <a:t>  - Bulk update capabilities</a:t>
            </a:r>
          </a:p>
          <a:p>
            <a:pPr>
              <a:spcBef>
                <a:spcPts val="1200"/>
              </a:spcBef>
              <a:defRPr sz="1600"/>
            </a:pPr>
            <a:r>
              <a:t>  - Advanced search options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MCP Context Studio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📊 Data Source: Invetory.csv</a:t>
            </a:r>
          </a:p>
          <a:p>
            <a:pPr>
              <a:spcBef>
                <a:spcPts val="1200"/>
              </a:spcBef>
              <a:defRPr sz="1600"/>
            </a:pPr>
            <a:r>
              <a:t>  - 14 provider tasks extracted</a:t>
            </a:r>
          </a:p>
          <a:p>
            <a:pPr>
              <a:spcBef>
                <a:spcPts val="1200"/>
              </a:spcBef>
              <a:defRPr sz="1600"/>
            </a:pPr>
            <a:r>
              <a:t>  - 3 providers: Burlington Oral, Mary C Tarvin, Harvard Square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🔍 Query Types:</a:t>
            </a:r>
          </a:p>
          <a:p>
            <a:pPr>
              <a:spcBef>
                <a:spcPts val="1200"/>
              </a:spcBef>
              <a:defRPr sz="1600"/>
            </a:pPr>
            <a:r>
              <a:t>  - Vector Query: Semantic search</a:t>
            </a:r>
          </a:p>
          <a:p>
            <a:pPr>
              <a:spcBef>
                <a:spcPts val="1200"/>
              </a:spcBef>
              <a:defRPr sz="1600"/>
            </a:pPr>
            <a:r>
              <a:t>  - Graph Query: Relationship traversal</a:t>
            </a:r>
          </a:p>
          <a:p>
            <a:pPr>
              <a:spcBef>
                <a:spcPts val="1200"/>
              </a:spcBef>
              <a:defRPr sz="1600"/>
            </a:pPr>
            <a:r>
              <a:t>  - Hybrid Query: Combined approach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🔐 Authentication:</a:t>
            </a:r>
          </a:p>
          <a:p>
            <a:pPr>
              <a:spcBef>
                <a:spcPts val="1200"/>
              </a:spcBef>
              <a:defRPr sz="1600"/>
            </a:pPr>
            <a:r>
              <a:t>  - Bearer Token (expires June 20, 2026)</a:t>
            </a:r>
          </a:p>
          <a:p>
            <a:pPr>
              <a:spcBef>
                <a:spcPts val="1200"/>
              </a:spcBef>
              <a:defRPr sz="1600"/>
            </a:pPr>
            <a:r>
              <a:t>  - x-api-key: ctx_4c0bbed92300</a:t>
            </a:r>
          </a:p>
          <a:p>
            <a:pPr>
              <a:spcBef>
                <a:spcPts val="1200"/>
              </a:spcBef>
              <a:defRPr sz="1600"/>
            </a:pPr>
            <a:r>
              <a:t>  - Email: Mahendra.Godase@ibm.com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Real Data from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Provider: Burlington Oral and Facial Surgery</a:t>
            </a:r>
          </a:p>
          <a:p>
            <a:pPr>
              <a:spcBef>
                <a:spcPts val="1200"/>
              </a:spcBef>
              <a:defRPr sz="1600"/>
            </a:pPr>
            <a:r>
              <a:t>  • NPI: 1003251398</a:t>
            </a:r>
          </a:p>
          <a:p>
            <a:pPr>
              <a:spcBef>
                <a:spcPts val="1200"/>
              </a:spcBef>
              <a:defRPr sz="1600"/>
            </a:pPr>
            <a:r>
              <a:t>  • Provider ID: 70010000X15029</a:t>
            </a:r>
          </a:p>
          <a:p>
            <a:pPr>
              <a:spcBef>
                <a:spcPts val="1200"/>
              </a:spcBef>
              <a:defRPr sz="1600"/>
            </a:pPr>
            <a:r>
              <a:t>  • Tasks: SPECIALTY, AMENITIES, NAME, ADDRESS DETAIL, DEMOGRAPHICS MISC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Provider: Mary C Tarvin LICSW</a:t>
            </a:r>
          </a:p>
          <a:p>
            <a:pPr>
              <a:spcBef>
                <a:spcPts val="1200"/>
              </a:spcBef>
              <a:defRPr sz="1600"/>
            </a:pPr>
            <a:r>
              <a:t>  • NPI: 1003360603</a:t>
            </a:r>
          </a:p>
          <a:p>
            <a:pPr>
              <a:spcBef>
                <a:spcPts val="1200"/>
              </a:spcBef>
              <a:defRPr sz="1600"/>
            </a:pPr>
            <a:r>
              <a:t>  • Provider ID: 70010000P10635</a:t>
            </a:r>
          </a:p>
          <a:p>
            <a:pPr>
              <a:spcBef>
                <a:spcPts val="1200"/>
              </a:spcBef>
              <a:defRPr sz="1600"/>
            </a:pPr>
            <a:r>
              <a:t>  • Tasks: NAME, DEMOGRAPHICS MISC, AMENITIES, ADDRESS DETAIL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Provider: Harvard Square Eye Care</a:t>
            </a:r>
          </a:p>
          <a:p>
            <a:pPr>
              <a:spcBef>
                <a:spcPts val="1200"/>
              </a:spcBef>
              <a:defRPr sz="1600"/>
            </a:pPr>
            <a:r>
              <a:t>  • NPI: 1003002155</a:t>
            </a:r>
          </a:p>
          <a:p>
            <a:pPr>
              <a:spcBef>
                <a:spcPts val="1200"/>
              </a:spcBef>
              <a:defRPr sz="1600"/>
            </a:pPr>
            <a:r>
              <a:t>  • Provider ID: 70010000W20453</a:t>
            </a:r>
          </a:p>
          <a:p>
            <a:pPr>
              <a:spcBef>
                <a:spcPts val="1200"/>
              </a:spcBef>
              <a:defRPr sz="1600"/>
            </a:pPr>
            <a:r>
              <a:t>  • Tasks: SPECIALTY, NAME, AMENITIES, DEMOGRAPHICS MISC, ADDRESS DETAIL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Setup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1. Install Dependencies:</a:t>
            </a:r>
          </a:p>
          <a:p>
            <a:pPr>
              <a:spcBef>
                <a:spcPts val="1200"/>
              </a:spcBef>
              <a:defRPr sz="1600"/>
            </a:pPr>
            <a:r>
              <a:t>   npm install (in root directory)</a:t>
            </a:r>
          </a:p>
          <a:p>
            <a:pPr>
              <a:spcBef>
                <a:spcPts val="1200"/>
              </a:spcBef>
              <a:defRPr sz="1600"/>
            </a:pPr>
            <a:r>
              <a:t>   npm install (in mock-backend directory)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2. Start Services (3 terminals):</a:t>
            </a:r>
          </a:p>
          <a:p>
            <a:pPr>
              <a:spcBef>
                <a:spcPts val="1200"/>
              </a:spcBef>
              <a:defRPr sz="1600"/>
            </a:pPr>
            <a:r>
              <a:t>   Terminal 1: npm start (Frontend - Port 4200)</a:t>
            </a:r>
          </a:p>
          <a:p>
            <a:pPr>
              <a:spcBef>
                <a:spcPts val="1200"/>
              </a:spcBef>
              <a:defRPr sz="1600"/>
            </a:pPr>
            <a:r>
              <a:t>   Terminal 2: cd mock-backend &amp;&amp; node mcp-proxy-server.js (Port 3001)</a:t>
            </a:r>
          </a:p>
          <a:p>
            <a:pPr>
              <a:spcBef>
                <a:spcPts val="1200"/>
              </a:spcBef>
              <a:defRPr sz="1600"/>
            </a:pPr>
            <a:r>
              <a:t>   Terminal 3: cd mock-backend &amp;&amp; set USE_MCP=true &amp;&amp; npm start (Port 3000)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3. Load MCP Data:</a:t>
            </a:r>
          </a:p>
          <a:p>
            <a:pPr>
              <a:spcBef>
                <a:spcPts val="1200"/>
              </a:spcBef>
              <a:defRPr sz="1600"/>
            </a:pPr>
            <a:r>
              <a:t>   Bob queries Context Studio and pushes to proxy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4. Access Application:</a:t>
            </a:r>
          </a:p>
          <a:p>
            <a:pPr>
              <a:spcBef>
                <a:spcPts val="1200"/>
              </a:spcBef>
              <a:defRPr sz="1600"/>
            </a:pPr>
            <a:r>
              <a:t>   http://localhost:4200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MCP Proxy Server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📍 Location: mock-backend/mcp-proxy-server.js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🔌 Endpoints:</a:t>
            </a:r>
          </a:p>
          <a:p>
            <a:pPr>
              <a:spcBef>
                <a:spcPts val="1200"/>
              </a:spcBef>
              <a:defRPr sz="1600"/>
            </a:pPr>
            <a:r>
              <a:t>  • POST /api/mcp/push-data - Bob pushes MCP data</a:t>
            </a:r>
          </a:p>
          <a:p>
            <a:pPr>
              <a:spcBef>
                <a:spcPts val="1200"/>
              </a:spcBef>
              <a:defRPr sz="1600"/>
            </a:pPr>
            <a:r>
              <a:t>  • GET /api/mcp/tasks - Application fetches data</a:t>
            </a:r>
          </a:p>
          <a:p>
            <a:pPr>
              <a:spcBef>
                <a:spcPts val="1200"/>
              </a:spcBef>
              <a:defRPr sz="1600"/>
            </a:pPr>
            <a:r>
              <a:t>  • POST /api/mcp/request-refresh - Request new data</a:t>
            </a:r>
          </a:p>
          <a:p>
            <a:pPr>
              <a:spcBef>
                <a:spcPts val="1200"/>
              </a:spcBef>
              <a:defRPr sz="1600"/>
            </a:pPr>
            <a:r>
              <a:t>  • GET /api/health - Health check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💾 Features:</a:t>
            </a:r>
          </a:p>
          <a:p>
            <a:pPr>
              <a:spcBef>
                <a:spcPts val="1200"/>
              </a:spcBef>
              <a:defRPr sz="1600"/>
            </a:pPr>
            <a:r>
              <a:t>  • In-memory data cache</a:t>
            </a:r>
          </a:p>
          <a:p>
            <a:pPr>
              <a:spcBef>
                <a:spcPts val="1200"/>
              </a:spcBef>
              <a:defRPr sz="1600"/>
            </a:pPr>
            <a:r>
              <a:t>  • Query parameter filtering</a:t>
            </a:r>
          </a:p>
          <a:p>
            <a:pPr>
              <a:spcBef>
                <a:spcPts val="1200"/>
              </a:spcBef>
              <a:defRPr sz="1600"/>
            </a:pPr>
            <a:r>
              <a:t>  • CORS enabled</a:t>
            </a:r>
          </a:p>
          <a:p>
            <a:pPr>
              <a:spcBef>
                <a:spcPts val="1200"/>
              </a:spcBef>
              <a:defRPr sz="1600"/>
            </a:pPr>
            <a:r>
              <a:t>  • Timestamp tracking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Main Backend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📍 Location: mock-backend/server.js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🔄 Key Changes:</a:t>
            </a:r>
          </a:p>
          <a:p>
            <a:pPr>
              <a:spcBef>
                <a:spcPts val="1200"/>
              </a:spcBef>
              <a:defRPr sz="1600"/>
            </a:pPr>
            <a:r>
              <a:t>  • Removed direct axios calls to MCP</a:t>
            </a:r>
          </a:p>
          <a:p>
            <a:pPr>
              <a:spcBef>
                <a:spcPts val="1200"/>
              </a:spcBef>
              <a:defRPr sz="1600"/>
            </a:pPr>
            <a:r>
              <a:t>  • Now fetches from MCP Proxy (localhost:3001)</a:t>
            </a:r>
          </a:p>
          <a:p>
            <a:pPr>
              <a:spcBef>
                <a:spcPts val="1200"/>
              </a:spcBef>
              <a:defRPr sz="1600"/>
            </a:pPr>
            <a:r>
              <a:t>  • Intelligent fallback to mock data</a:t>
            </a:r>
          </a:p>
          <a:p>
            <a:pPr>
              <a:spcBef>
                <a:spcPts val="1200"/>
              </a:spcBef>
              <a:defRPr sz="1600"/>
            </a:pPr>
            <a:r>
              <a:t>  • Query parameter forwarding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✅ Benefits:</a:t>
            </a:r>
          </a:p>
          <a:p>
            <a:pPr>
              <a:spcBef>
                <a:spcPts val="1200"/>
              </a:spcBef>
              <a:defRPr sz="1600"/>
            </a:pPr>
            <a:r>
              <a:t>  • Separation of concerns</a:t>
            </a:r>
          </a:p>
          <a:p>
            <a:pPr>
              <a:spcBef>
                <a:spcPts val="1200"/>
              </a:spcBef>
              <a:defRPr sz="1600"/>
            </a:pPr>
            <a:r>
              <a:t>  • Bob handles MCP authentication</a:t>
            </a:r>
          </a:p>
          <a:p>
            <a:pPr>
              <a:spcBef>
                <a:spcPts val="1200"/>
              </a:spcBef>
              <a:defRPr sz="1600"/>
            </a:pPr>
            <a:r>
              <a:t>  • Application remains simple</a:t>
            </a:r>
          </a:p>
          <a:p>
            <a:pPr>
              <a:spcBef>
                <a:spcPts val="1200"/>
              </a:spcBef>
              <a:defRPr sz="1600"/>
            </a:pPr>
            <a:r>
              <a:t>  • Easy to test and debug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Frontend Components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🏠 Home Component (Search Interface)</a:t>
            </a:r>
          </a:p>
          <a:p>
            <a:pPr>
              <a:spcBef>
                <a:spcPts val="1200"/>
              </a:spcBef>
              <a:defRPr sz="1600"/>
            </a:pPr>
            <a:r>
              <a:t>  • Search form with multiple filters</a:t>
            </a:r>
          </a:p>
          <a:p>
            <a:pPr>
              <a:spcBef>
                <a:spcPts val="1200"/>
              </a:spcBef>
              <a:defRPr sz="1600"/>
            </a:pPr>
            <a:r>
              <a:t>  • Advanced search toggle</a:t>
            </a:r>
          </a:p>
          <a:p>
            <a:pPr>
              <a:spcBef>
                <a:spcPts val="1200"/>
              </a:spcBef>
              <a:defRPr sz="1600"/>
            </a:pPr>
            <a:r>
              <a:t>  • Date range pickers</a:t>
            </a:r>
          </a:p>
          <a:p>
            <a:pPr>
              <a:spcBef>
                <a:spcPts val="1200"/>
              </a:spcBef>
              <a:defRPr sz="1600"/>
            </a:pPr>
            <a:r>
              <a:t>  • Dropdown selections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📊 Data Grid</a:t>
            </a:r>
          </a:p>
          <a:p>
            <a:pPr>
              <a:spcBef>
                <a:spcPts val="1200"/>
              </a:spcBef>
              <a:defRPr sz="1600"/>
            </a:pPr>
            <a:r>
              <a:t>  • AG-Grid integration</a:t>
            </a:r>
          </a:p>
          <a:p>
            <a:pPr>
              <a:spcBef>
                <a:spcPts val="1200"/>
              </a:spcBef>
              <a:defRPr sz="1600"/>
            </a:pPr>
            <a:r>
              <a:t>  • Sortable columns</a:t>
            </a:r>
          </a:p>
          <a:p>
            <a:pPr>
              <a:spcBef>
                <a:spcPts val="1200"/>
              </a:spcBef>
              <a:defRPr sz="1600"/>
            </a:pPr>
            <a:r>
              <a:t>  • Checkbox selection</a:t>
            </a:r>
          </a:p>
          <a:p>
            <a:pPr>
              <a:spcBef>
                <a:spcPts val="1200"/>
              </a:spcBef>
              <a:defRPr sz="1600"/>
            </a:pPr>
            <a:r>
              <a:t>  • Export to Excel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🎨 Styling</a:t>
            </a:r>
          </a:p>
          <a:p>
            <a:pPr>
              <a:spcBef>
                <a:spcPts val="1200"/>
              </a:spcBef>
              <a:defRPr sz="1600"/>
            </a:pPr>
            <a:r>
              <a:t>  • Gradient backgrounds</a:t>
            </a:r>
          </a:p>
          <a:p>
            <a:pPr>
              <a:spcBef>
                <a:spcPts val="1200"/>
              </a:spcBef>
              <a:defRPr sz="1600"/>
            </a:pPr>
            <a:r>
              <a:t>  • Responsive design</a:t>
            </a:r>
          </a:p>
          <a:p>
            <a:pPr>
              <a:spcBef>
                <a:spcPts val="1200"/>
              </a:spcBef>
              <a:defRPr sz="1600"/>
            </a:pPr>
            <a:r>
              <a:t>  • Modern UI components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Search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📝 Available Filters: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NPI - National Provider Identifier</a:t>
            </a:r>
          </a:p>
          <a:p>
            <a:pPr>
              <a:spcBef>
                <a:spcPts val="1200"/>
              </a:spcBef>
              <a:defRPr sz="1600"/>
            </a:pPr>
            <a:r>
              <a:t>• Task ID - Unique task identifier</a:t>
            </a:r>
          </a:p>
          <a:p>
            <a:pPr>
              <a:spcBef>
                <a:spcPts val="1200"/>
              </a:spcBef>
              <a:defRPr sz="1600"/>
            </a:pPr>
            <a:r>
              <a:t>• Data Source - CAQH, Survey, Manual</a:t>
            </a:r>
          </a:p>
          <a:p>
            <a:pPr>
              <a:spcBef>
                <a:spcPts val="1200"/>
              </a:spcBef>
              <a:defRPr sz="1600"/>
            </a:pPr>
            <a:r>
              <a:t>• Provider ID - Internal provider ID</a:t>
            </a:r>
          </a:p>
          <a:p>
            <a:pPr>
              <a:spcBef>
                <a:spcPts val="1200"/>
              </a:spcBef>
              <a:defRPr sz="1600"/>
            </a:pPr>
            <a:r>
              <a:t>• Provider Name - Provider display name</a:t>
            </a:r>
          </a:p>
          <a:p>
            <a:pPr>
              <a:spcBef>
                <a:spcPts val="1200"/>
              </a:spcBef>
              <a:defRPr sz="1600"/>
            </a:pPr>
            <a:r>
              <a:t>• Task Status - Pending, In Progress, Completed, etc.</a:t>
            </a:r>
          </a:p>
          <a:p>
            <a:pPr>
              <a:spcBef>
                <a:spcPts val="1200"/>
              </a:spcBef>
              <a:defRPr sz="1600"/>
            </a:pPr>
            <a:r>
              <a:t>• Task Name - Type of task</a:t>
            </a:r>
          </a:p>
          <a:p>
            <a:pPr>
              <a:spcBef>
                <a:spcPts val="1200"/>
              </a:spcBef>
              <a:defRPr sz="1600"/>
            </a:pPr>
            <a:r>
              <a:t>• Work Queue - Queue assignment</a:t>
            </a:r>
          </a:p>
          <a:p>
            <a:pPr>
              <a:spcBef>
                <a:spcPts val="1200"/>
              </a:spcBef>
              <a:defRPr sz="1600"/>
            </a:pPr>
            <a:r>
              <a:t>• Date Ranges - Outbound file and corporate receipt dates</a:t>
            </a:r>
          </a:p>
          <a:p>
            <a:pPr>
              <a:spcBef>
                <a:spcPts val="1200"/>
              </a:spcBef>
              <a:defRPr sz="1600"/>
            </a:pPr>
            <a:r>
              <a:t>• Search By - Task or Provider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Data Model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Task Object Properties: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@id - Unique identifier</a:t>
            </a:r>
          </a:p>
          <a:p>
            <a:pPr>
              <a:spcBef>
                <a:spcPts val="1200"/>
              </a:spcBef>
              <a:defRPr sz="1600"/>
            </a:pPr>
            <a:r>
              <a:t>• @type - Object type (Task)</a:t>
            </a:r>
          </a:p>
          <a:p>
            <a:pPr>
              <a:spcBef>
                <a:spcPts val="1200"/>
              </a:spcBef>
              <a:defRPr sz="1600"/>
            </a:pPr>
            <a:r>
              <a:t>• dataSource - Origin (Survey, CAQH, Manual)</a:t>
            </a:r>
          </a:p>
          <a:p>
            <a:pPr>
              <a:spcBef>
                <a:spcPts val="1200"/>
              </a:spcBef>
              <a:defRPr sz="1600"/>
            </a:pPr>
            <a:r>
              <a:t>• taskId - Task number</a:t>
            </a:r>
          </a:p>
          <a:p>
            <a:pPr>
              <a:spcBef>
                <a:spcPts val="1200"/>
              </a:spcBef>
              <a:defRPr sz="1600"/>
            </a:pPr>
            <a:r>
              <a:t>• caseId - Case grouping identifier</a:t>
            </a:r>
          </a:p>
          <a:p>
            <a:pPr>
              <a:spcBef>
                <a:spcPts val="1200"/>
              </a:spcBef>
              <a:defRPr sz="1600"/>
            </a:pPr>
            <a:r>
              <a:t>• npi - National Provider Identifier</a:t>
            </a:r>
          </a:p>
          <a:p>
            <a:pPr>
              <a:spcBef>
                <a:spcPts val="1200"/>
              </a:spcBef>
              <a:defRPr sz="1600"/>
            </a:pPr>
            <a:r>
              <a:t>• providerId - Internal provider ID</a:t>
            </a:r>
          </a:p>
          <a:p>
            <a:pPr>
              <a:spcBef>
                <a:spcPts val="1200"/>
              </a:spcBef>
              <a:defRPr sz="1600"/>
            </a:pPr>
            <a:r>
              <a:t>• providerName - Provider display name</a:t>
            </a:r>
          </a:p>
          <a:p>
            <a:pPr>
              <a:spcBef>
                <a:spcPts val="1200"/>
              </a:spcBef>
              <a:defRPr sz="1600"/>
            </a:pPr>
            <a:r>
              <a:t>• title - Provider title (MD, DO, etc.)</a:t>
            </a:r>
          </a:p>
          <a:p>
            <a:pPr>
              <a:spcBef>
                <a:spcPts val="1200"/>
              </a:spcBef>
              <a:defRPr sz="1600"/>
            </a:pPr>
            <a:r>
              <a:t>• taskName - Task category</a:t>
            </a:r>
          </a:p>
          <a:p>
            <a:pPr>
              <a:spcBef>
                <a:spcPts val="1200"/>
              </a:spcBef>
              <a:defRPr sz="1600"/>
            </a:pPr>
            <a:r>
              <a:t>• taskStatus - Current status</a:t>
            </a:r>
          </a:p>
          <a:p>
            <a:pPr>
              <a:spcBef>
                <a:spcPts val="1200"/>
              </a:spcBef>
              <a:defRPr sz="1600"/>
            </a:pPr>
            <a:r>
              <a:t>• taskAge - Days since creation</a:t>
            </a:r>
          </a:p>
          <a:p>
            <a:pPr>
              <a:spcBef>
                <a:spcPts val="1200"/>
              </a:spcBef>
              <a:defRPr sz="1600"/>
            </a:pPr>
            <a:r>
              <a:t>• crd - Corporate receipt date</a:t>
            </a:r>
          </a:p>
          <a:p>
            <a:pPr>
              <a:spcBef>
                <a:spcPts val="1200"/>
              </a:spcBef>
              <a:defRPr sz="1600"/>
            </a:pPr>
            <a:r>
              <a:t>• workQueue - Assigned queue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MCP Context Studio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📁 Context Details:</a:t>
            </a:r>
          </a:p>
          <a:p>
            <a:pPr>
              <a:spcBef>
                <a:spcPts val="1200"/>
              </a:spcBef>
              <a:defRPr sz="1600"/>
            </a:pPr>
            <a:r>
              <a:t>  • Context ID: ctx_4c0bbed92300</a:t>
            </a:r>
          </a:p>
          <a:p>
            <a:pPr>
              <a:spcBef>
                <a:spcPts val="1200"/>
              </a:spcBef>
              <a:defRPr sz="1600"/>
            </a:pPr>
            <a:r>
              <a:t>  • Name: DIRECTORYBLUE</a:t>
            </a:r>
          </a:p>
          <a:p>
            <a:pPr>
              <a:spcBef>
                <a:spcPts val="1200"/>
              </a:spcBef>
              <a:defRPr sz="1600"/>
            </a:pPr>
            <a:r>
              <a:t>  • Description: PROVIDERDTA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📊 Data Sources:</a:t>
            </a:r>
          </a:p>
          <a:p>
            <a:pPr>
              <a:spcBef>
                <a:spcPts val="1200"/>
              </a:spcBef>
              <a:defRPr sz="1600"/>
            </a:pPr>
            <a:r>
              <a:t>  • GitHub: MahendraGodase/DirectoryBlue</a:t>
            </a:r>
          </a:p>
          <a:p>
            <a:pPr>
              <a:spcBef>
                <a:spcPts val="1200"/>
              </a:spcBef>
              <a:defRPr sz="1600"/>
            </a:pPr>
            <a:r>
              <a:t>  • Manual Upload: Invetory.csv (Ready)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📈 Statistics:</a:t>
            </a:r>
          </a:p>
          <a:p>
            <a:pPr>
              <a:spcBef>
                <a:spcPts val="1200"/>
              </a:spcBef>
              <a:defRPr sz="1600"/>
            </a:pPr>
            <a:r>
              <a:t>  • Nodes Extracted: 48</a:t>
            </a:r>
          </a:p>
          <a:p>
            <a:pPr>
              <a:spcBef>
                <a:spcPts val="1200"/>
              </a:spcBef>
              <a:defRPr sz="1600"/>
            </a:pPr>
            <a:r>
              <a:t>  • Relationships: 181</a:t>
            </a:r>
          </a:p>
          <a:p>
            <a:pPr>
              <a:spcBef>
                <a:spcPts val="1200"/>
              </a:spcBef>
              <a:defRPr sz="1600"/>
            </a:pPr>
            <a:r>
              <a:t>  • Processing Time: &lt; 1 second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🔗 Ontology:</a:t>
            </a:r>
          </a:p>
          <a:p>
            <a:pPr>
              <a:spcBef>
                <a:spcPts val="1200"/>
              </a:spcBef>
              <a:defRPr sz="1600"/>
            </a:pPr>
            <a:r>
              <a:t>  • directoryBlue ontology linked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Bob AI Assistant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🤖 Bob's Responsibilities: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1. MCP Authentication</a:t>
            </a:r>
          </a:p>
          <a:p>
            <a:pPr>
              <a:spcBef>
                <a:spcPts val="1200"/>
              </a:spcBef>
              <a:defRPr sz="1600"/>
            </a:pPr>
            <a:r>
              <a:t>   • Manages bearer tokens</a:t>
            </a:r>
          </a:p>
          <a:p>
            <a:pPr>
              <a:spcBef>
                <a:spcPts val="1200"/>
              </a:spcBef>
              <a:defRPr sz="1600"/>
            </a:pPr>
            <a:r>
              <a:t>   • Handles x-api-key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2. Data Querying</a:t>
            </a:r>
          </a:p>
          <a:p>
            <a:pPr>
              <a:spcBef>
                <a:spcPts val="1200"/>
              </a:spcBef>
              <a:defRPr sz="1600"/>
            </a:pPr>
            <a:r>
              <a:t>   • Uses use_mcp_tool command</a:t>
            </a:r>
          </a:p>
          <a:p>
            <a:pPr>
              <a:spcBef>
                <a:spcPts val="1200"/>
              </a:spcBef>
              <a:defRPr sz="1600"/>
            </a:pPr>
            <a:r>
              <a:t>   • Executes graph queries</a:t>
            </a:r>
          </a:p>
          <a:p>
            <a:pPr>
              <a:spcBef>
                <a:spcPts val="1200"/>
              </a:spcBef>
              <a:defRPr sz="1600"/>
            </a:pPr>
            <a:r>
              <a:t>   • Filters Task nodes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3. Data Transformation</a:t>
            </a:r>
          </a:p>
          <a:p>
            <a:pPr>
              <a:spcBef>
                <a:spcPts val="1200"/>
              </a:spcBef>
              <a:defRPr sz="1600"/>
            </a:pPr>
            <a:r>
              <a:t>   • Extracts provider names from content</a:t>
            </a:r>
          </a:p>
          <a:p>
            <a:pPr>
              <a:spcBef>
                <a:spcPts val="1200"/>
              </a:spcBef>
              <a:defRPr sz="1600"/>
            </a:pPr>
            <a:r>
              <a:t>   • Maps properties to application format</a:t>
            </a:r>
          </a:p>
          <a:p>
            <a:pPr>
              <a:spcBef>
                <a:spcPts val="1200"/>
              </a:spcBef>
              <a:defRPr sz="1600"/>
            </a:pPr>
            <a:r>
              <a:t>   • Applies search filters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4. Data Delivery</a:t>
            </a:r>
          </a:p>
          <a:p>
            <a:pPr>
              <a:spcBef>
                <a:spcPts val="1200"/>
              </a:spcBef>
              <a:defRPr sz="1600"/>
            </a:pPr>
            <a:r>
              <a:t>   • POSTs to MCP Proxy Server</a:t>
            </a:r>
          </a:p>
          <a:p>
            <a:pPr>
              <a:spcBef>
                <a:spcPts val="1200"/>
              </a:spcBef>
              <a:defRPr sz="1600"/>
            </a:pPr>
            <a:r>
              <a:t>   • Provides 14 transformed tasks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Testing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1️⃣ Verify All Services Running:</a:t>
            </a:r>
          </a:p>
          <a:p>
            <a:pPr>
              <a:spcBef>
                <a:spcPts val="1200"/>
              </a:spcBef>
              <a:defRPr sz="1600"/>
            </a:pPr>
            <a:r>
              <a:t>   • Frontend: http://localhost:4200</a:t>
            </a:r>
          </a:p>
          <a:p>
            <a:pPr>
              <a:spcBef>
                <a:spcPts val="1200"/>
              </a:spcBef>
              <a:defRPr sz="1600"/>
            </a:pPr>
            <a:r>
              <a:t>   • Backend: http://localhost:3000</a:t>
            </a:r>
          </a:p>
          <a:p>
            <a:pPr>
              <a:spcBef>
                <a:spcPts val="1200"/>
              </a:spcBef>
              <a:defRPr sz="1600"/>
            </a:pPr>
            <a:r>
              <a:t>   • MCP Proxy: http://localhost:3001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2️⃣ Check MCP Proxy Health:</a:t>
            </a:r>
          </a:p>
          <a:p>
            <a:pPr>
              <a:spcBef>
                <a:spcPts val="1200"/>
              </a:spcBef>
              <a:defRPr sz="1600"/>
            </a:pPr>
            <a:r>
              <a:t>   • GET http://localhost:3001/api/health</a:t>
            </a:r>
          </a:p>
          <a:p>
            <a:pPr>
              <a:spcBef>
                <a:spcPts val="1200"/>
              </a:spcBef>
              <a:defRPr sz="1600"/>
            </a:pPr>
            <a:r>
              <a:t>   • Should show 14 tasks cached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3️⃣ Test Search:</a:t>
            </a:r>
          </a:p>
          <a:p>
            <a:pPr>
              <a:spcBef>
                <a:spcPts val="1200"/>
              </a:spcBef>
              <a:defRPr sz="1600"/>
            </a:pPr>
            <a:r>
              <a:t>   • Open application in browser</a:t>
            </a:r>
          </a:p>
          <a:p>
            <a:pPr>
              <a:spcBef>
                <a:spcPts val="1200"/>
              </a:spcBef>
              <a:defRPr sz="1600"/>
            </a:pPr>
            <a:r>
              <a:t>   • Click Submit without filters</a:t>
            </a:r>
          </a:p>
          <a:p>
            <a:pPr>
              <a:spcBef>
                <a:spcPts val="1200"/>
              </a:spcBef>
              <a:defRPr sz="1600"/>
            </a:pPr>
            <a:r>
              <a:t>   • Verify 14 tasks display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4️⃣ Test Filtering:</a:t>
            </a:r>
          </a:p>
          <a:p>
            <a:pPr>
              <a:spcBef>
                <a:spcPts val="1200"/>
              </a:spcBef>
              <a:defRPr sz="1600"/>
            </a:pPr>
            <a:r>
              <a:t>   • Select Data Source: Survey</a:t>
            </a:r>
          </a:p>
          <a:p>
            <a:pPr>
              <a:spcBef>
                <a:spcPts val="1200"/>
              </a:spcBef>
              <a:defRPr sz="1600"/>
            </a:pPr>
            <a:r>
              <a:t>   • Select Task Status</a:t>
            </a:r>
          </a:p>
          <a:p>
            <a:pPr>
              <a:spcBef>
                <a:spcPts val="1200"/>
              </a:spcBef>
              <a:defRPr sz="1600"/>
            </a:pPr>
            <a:r>
              <a:t>   • Verify filtered results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Troubleshooting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❌ No Data Displayed:</a:t>
            </a:r>
          </a:p>
          <a:p>
            <a:pPr>
              <a:spcBef>
                <a:spcPts val="1200"/>
              </a:spcBef>
              <a:defRPr sz="1600"/>
            </a:pPr>
            <a:r>
              <a:t>  • Check MCP Proxy is running (port 3001)</a:t>
            </a:r>
          </a:p>
          <a:p>
            <a:pPr>
              <a:spcBef>
                <a:spcPts val="1200"/>
              </a:spcBef>
              <a:defRPr sz="1600"/>
            </a:pPr>
            <a:r>
              <a:t>  • Verify Bob has pushed data</a:t>
            </a:r>
          </a:p>
          <a:p>
            <a:pPr>
              <a:spcBef>
                <a:spcPts val="1200"/>
              </a:spcBef>
              <a:defRPr sz="1600"/>
            </a:pPr>
            <a:r>
              <a:t>  • Check browser console for errors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❌ Port Already in Use:</a:t>
            </a:r>
          </a:p>
          <a:p>
            <a:pPr>
              <a:spcBef>
                <a:spcPts val="1200"/>
              </a:spcBef>
              <a:defRPr sz="1600"/>
            </a:pPr>
            <a:r>
              <a:t>  • Kill process: Stop-Process -Id (Get-NetTCPConnection -LocalPort 3000).OwningProcess</a:t>
            </a:r>
          </a:p>
          <a:p>
            <a:pPr>
              <a:spcBef>
                <a:spcPts val="1200"/>
              </a:spcBef>
              <a:defRPr sz="1600"/>
            </a:pPr>
            <a:r>
              <a:t>  • Wait 2 seconds and restart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❌ MCP Proxy Empty:</a:t>
            </a:r>
          </a:p>
          <a:p>
            <a:pPr>
              <a:spcBef>
                <a:spcPts val="1200"/>
              </a:spcBef>
              <a:defRPr sz="1600"/>
            </a:pPr>
            <a:r>
              <a:t>  • Bob needs to query Context Studio</a:t>
            </a:r>
          </a:p>
          <a:p>
            <a:pPr>
              <a:spcBef>
                <a:spcPts val="1200"/>
              </a:spcBef>
              <a:defRPr sz="1600"/>
            </a:pPr>
            <a:r>
              <a:t>  • Run: use_mcp_tool with context-broker-graph-query</a:t>
            </a:r>
          </a:p>
          <a:p>
            <a:pPr>
              <a:spcBef>
                <a:spcPts val="1200"/>
              </a:spcBef>
              <a:defRPr sz="1600"/>
            </a:pPr>
            <a:r>
              <a:t>  • Transform and push data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❌ CORS Errors:</a:t>
            </a:r>
          </a:p>
          <a:p>
            <a:pPr>
              <a:spcBef>
                <a:spcPts val="1200"/>
              </a:spcBef>
              <a:defRPr sz="1600"/>
            </a:pPr>
            <a:r>
              <a:t>  • Verify CORS enabled in proxy server</a:t>
            </a:r>
          </a:p>
          <a:p>
            <a:pPr>
              <a:spcBef>
                <a:spcPts val="1200"/>
              </a:spcBef>
              <a:defRPr sz="1600"/>
            </a:pPr>
            <a:r>
              <a:t>  • Check frontend proxy configuration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Project File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DirectoryBlue/</a:t>
            </a:r>
          </a:p>
          <a:p>
            <a:pPr>
              <a:spcBef>
                <a:spcPts val="1200"/>
              </a:spcBef>
              <a:defRPr sz="1600"/>
            </a:pPr>
            <a:r>
              <a:t>├── src/                    # Angular source</a:t>
            </a:r>
          </a:p>
          <a:p>
            <a:pPr>
              <a:spcBef>
                <a:spcPts val="1200"/>
              </a:spcBef>
              <a:defRPr sz="1600"/>
            </a:pPr>
            <a:r>
              <a:t>│   ├── app/</a:t>
            </a:r>
          </a:p>
          <a:p>
            <a:pPr>
              <a:spcBef>
                <a:spcPts val="1200"/>
              </a:spcBef>
              <a:defRPr sz="1600"/>
            </a:pPr>
            <a:r>
              <a:t>│   │   ├── home/          # Search interface</a:t>
            </a:r>
          </a:p>
          <a:p>
            <a:pPr>
              <a:spcBef>
                <a:spcPts val="1200"/>
              </a:spcBef>
              <a:defRPr sz="1600"/>
            </a:pPr>
            <a:r>
              <a:t>│   │   ├── about/         # About page</a:t>
            </a:r>
          </a:p>
          <a:p>
            <a:pPr>
              <a:spcBef>
                <a:spcPts val="1200"/>
              </a:spcBef>
              <a:defRPr sz="1600"/>
            </a:pPr>
            <a:r>
              <a:t>│   │   └── contact/       # Contact page</a:t>
            </a:r>
          </a:p>
          <a:p>
            <a:pPr>
              <a:spcBef>
                <a:spcPts val="1200"/>
              </a:spcBef>
              <a:defRPr sz="1600"/>
            </a:pPr>
            <a:r>
              <a:t>│   └── environments/      # Environment configs</a:t>
            </a:r>
          </a:p>
          <a:p>
            <a:pPr>
              <a:spcBef>
                <a:spcPts val="1200"/>
              </a:spcBef>
              <a:defRPr sz="1600"/>
            </a:pPr>
            <a:r>
              <a:t>├── mock-backend/</a:t>
            </a:r>
          </a:p>
          <a:p>
            <a:pPr>
              <a:spcBef>
                <a:spcPts val="1200"/>
              </a:spcBef>
              <a:defRPr sz="1600"/>
            </a:pPr>
            <a:r>
              <a:t>│   ├── server.js          # Main backend (port 3000)</a:t>
            </a:r>
          </a:p>
          <a:p>
            <a:pPr>
              <a:spcBef>
                <a:spcPts val="1200"/>
              </a:spcBef>
              <a:defRPr sz="1600"/>
            </a:pPr>
            <a:r>
              <a:t>│   ├── mcp-proxy-server.js # MCP proxy (port 3001)</a:t>
            </a:r>
          </a:p>
          <a:p>
            <a:pPr>
              <a:spcBef>
                <a:spcPts val="1200"/>
              </a:spcBef>
              <a:defRPr sz="1600"/>
            </a:pPr>
            <a:r>
              <a:t>│   └── mcp-service.js     # MCP utilities</a:t>
            </a:r>
          </a:p>
          <a:p>
            <a:pPr>
              <a:spcBef>
                <a:spcPts val="1200"/>
              </a:spcBef>
              <a:defRPr sz="1600"/>
            </a:pPr>
            <a:r>
              <a:t>├── .bob/</a:t>
            </a:r>
          </a:p>
          <a:p>
            <a:pPr>
              <a:spcBef>
                <a:spcPts val="1200"/>
              </a:spcBef>
              <a:defRPr sz="1600"/>
            </a:pPr>
            <a:r>
              <a:t>│   └── mcp.json           # MCP configuration</a:t>
            </a:r>
          </a:p>
          <a:p>
            <a:pPr>
              <a:spcBef>
                <a:spcPts val="1200"/>
              </a:spcBef>
              <a:defRPr sz="1600"/>
            </a:pPr>
            <a:r>
              <a:t>├── package.json           # Frontend dependencies</a:t>
            </a:r>
          </a:p>
          <a:p>
            <a:pPr>
              <a:spcBef>
                <a:spcPts val="1200"/>
              </a:spcBef>
              <a:defRPr sz="1600"/>
            </a:pPr>
            <a:r>
              <a:t>└── angular.json           # Angular configuration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API Endpoints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Main Backend (Port 3000):</a:t>
            </a:r>
          </a:p>
          <a:p>
            <a:pPr>
              <a:spcBef>
                <a:spcPts val="1200"/>
              </a:spcBef>
              <a:defRPr sz="1600"/>
            </a:pPr>
            <a:r>
              <a:t>  • GET /api/search-tasks - Search provider tasks</a:t>
            </a:r>
          </a:p>
          <a:p>
            <a:pPr>
              <a:spcBef>
                <a:spcPts val="1200"/>
              </a:spcBef>
              <a:defRPr sz="1600"/>
            </a:pPr>
            <a:r>
              <a:t>  • GET /api/dropdown-options/:type - Get dropdown values</a:t>
            </a:r>
          </a:p>
          <a:p>
            <a:pPr>
              <a:spcBef>
                <a:spcPts val="1200"/>
              </a:spcBef>
              <a:defRPr sz="1600"/>
            </a:pPr>
            <a:r>
              <a:t>  • GET /api/health - Health check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MCP Proxy (Port 3001):</a:t>
            </a:r>
          </a:p>
          <a:p>
            <a:pPr>
              <a:spcBef>
                <a:spcPts val="1200"/>
              </a:spcBef>
              <a:defRPr sz="1600"/>
            </a:pPr>
            <a:r>
              <a:t>  • POST /api/mcp/push-data - Bob pushes MCP data</a:t>
            </a:r>
          </a:p>
          <a:p>
            <a:pPr>
              <a:spcBef>
                <a:spcPts val="1200"/>
              </a:spcBef>
              <a:defRPr sz="1600"/>
            </a:pPr>
            <a:r>
              <a:t>  • GET /api/mcp/tasks - Fetch cached tasks</a:t>
            </a:r>
          </a:p>
          <a:p>
            <a:pPr>
              <a:spcBef>
                <a:spcPts val="1200"/>
              </a:spcBef>
              <a:defRPr sz="1600"/>
            </a:pPr>
            <a:r>
              <a:t>  • POST /api/mcp/request-refresh - Request data refresh</a:t>
            </a:r>
          </a:p>
          <a:p>
            <a:pPr>
              <a:spcBef>
                <a:spcPts val="1200"/>
              </a:spcBef>
              <a:defRPr sz="1600"/>
            </a:pPr>
            <a:r>
              <a:t>  • GET /api/health - Proxy health check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Query Parameters:</a:t>
            </a:r>
          </a:p>
          <a:p>
            <a:pPr>
              <a:spcBef>
                <a:spcPts val="1200"/>
              </a:spcBef>
              <a:defRPr sz="1600"/>
            </a:pPr>
            <a:r>
              <a:t>  • dataSource, taskStatus, workQueue</a:t>
            </a:r>
          </a:p>
          <a:p>
            <a:pPr>
              <a:spcBef>
                <a:spcPts val="1200"/>
              </a:spcBef>
              <a:defRPr sz="1600"/>
            </a:pPr>
            <a:r>
              <a:t>  • providerName, npi, taskId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Environment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Backend Environment Variables: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USE_MCP=true</a:t>
            </a:r>
          </a:p>
          <a:p>
            <a:pPr>
              <a:spcBef>
                <a:spcPts val="1200"/>
              </a:spcBef>
              <a:defRPr sz="1600"/>
            </a:pPr>
            <a:r>
              <a:t>  Enables MCP proxy integration</a:t>
            </a:r>
          </a:p>
          <a:p>
            <a:pPr>
              <a:spcBef>
                <a:spcPts val="1200"/>
              </a:spcBef>
              <a:defRPr sz="1600"/>
            </a:pPr>
            <a:r>
              <a:t>  Set to 'false' for mock data only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PORT=3000</a:t>
            </a:r>
          </a:p>
          <a:p>
            <a:pPr>
              <a:spcBef>
                <a:spcPts val="1200"/>
              </a:spcBef>
              <a:defRPr sz="1600"/>
            </a:pPr>
            <a:r>
              <a:t>  Main backend server port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MCP Proxy Configuration:</a:t>
            </a:r>
          </a:p>
          <a:p>
            <a:pPr>
              <a:spcBef>
                <a:spcPts val="1200"/>
              </a:spcBef>
              <a:defRPr sz="1600"/>
            </a:pPr>
            <a:r>
              <a:t>• PORT=3001</a:t>
            </a:r>
          </a:p>
          <a:p>
            <a:pPr>
              <a:spcBef>
                <a:spcPts val="1200"/>
              </a:spcBef>
              <a:defRPr sz="1600"/>
            </a:pPr>
            <a:r>
              <a:t>  MCP proxy server port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Frontend Configuration:</a:t>
            </a:r>
          </a:p>
          <a:p>
            <a:pPr>
              <a:spcBef>
                <a:spcPts val="1200"/>
              </a:spcBef>
              <a:defRPr sz="1600"/>
            </a:pPr>
            <a:r>
              <a:t>• Port: 4200 (default Angular)</a:t>
            </a:r>
          </a:p>
          <a:p>
            <a:pPr>
              <a:spcBef>
                <a:spcPts val="1200"/>
              </a:spcBef>
              <a:defRPr sz="1600"/>
            </a:pPr>
            <a:r>
              <a:t>• Proxy: Configured in angular.json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Security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🔐 Authentication:</a:t>
            </a:r>
          </a:p>
          <a:p>
            <a:pPr>
              <a:spcBef>
                <a:spcPts val="1200"/>
              </a:spcBef>
              <a:defRPr sz="1600"/>
            </a:pPr>
            <a:r>
              <a:t>  • MCP bearer tokens managed by Bob</a:t>
            </a:r>
          </a:p>
          <a:p>
            <a:pPr>
              <a:spcBef>
                <a:spcPts val="1200"/>
              </a:spcBef>
              <a:defRPr sz="1600"/>
            </a:pPr>
            <a:r>
              <a:t>  • x-api-key for Context Studio access</a:t>
            </a:r>
          </a:p>
          <a:p>
            <a:pPr>
              <a:spcBef>
                <a:spcPts val="1200"/>
              </a:spcBef>
              <a:defRPr sz="1600"/>
            </a:pPr>
            <a:r>
              <a:t>  • Token expiration: June 20, 2026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🛡️ Data Protection:</a:t>
            </a:r>
          </a:p>
          <a:p>
            <a:pPr>
              <a:spcBef>
                <a:spcPts val="1200"/>
              </a:spcBef>
              <a:defRPr sz="1600"/>
            </a:pPr>
            <a:r>
              <a:t>  • CORS enabled with specific origins</a:t>
            </a:r>
          </a:p>
          <a:p>
            <a:pPr>
              <a:spcBef>
                <a:spcPts val="1200"/>
              </a:spcBef>
              <a:defRPr sz="1600"/>
            </a:pPr>
            <a:r>
              <a:t>  • Input validation on all endpoints</a:t>
            </a:r>
          </a:p>
          <a:p>
            <a:pPr>
              <a:spcBef>
                <a:spcPts val="1200"/>
              </a:spcBef>
              <a:defRPr sz="1600"/>
            </a:pPr>
            <a:r>
              <a:t>  • Parameterized queries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🔒 Best Practices:</a:t>
            </a:r>
          </a:p>
          <a:p>
            <a:pPr>
              <a:spcBef>
                <a:spcPts val="1200"/>
              </a:spcBef>
              <a:defRPr sz="1600"/>
            </a:pPr>
            <a:r>
              <a:t>  • Tokens stored in .bob/mcp.json (gitignored)</a:t>
            </a:r>
          </a:p>
          <a:p>
            <a:pPr>
              <a:spcBef>
                <a:spcPts val="1200"/>
              </a:spcBef>
              <a:defRPr sz="1600"/>
            </a:pPr>
            <a:r>
              <a:t>  • Environment-based configuration</a:t>
            </a:r>
          </a:p>
          <a:p>
            <a:pPr>
              <a:spcBef>
                <a:spcPts val="1200"/>
              </a:spcBef>
              <a:defRPr sz="1600"/>
            </a:pPr>
            <a:r>
              <a:t>  • Separation of concerns</a:t>
            </a:r>
          </a:p>
          <a:p>
            <a:pPr>
              <a:spcBef>
                <a:spcPts val="1200"/>
              </a:spcBef>
              <a:defRPr sz="1600"/>
            </a:pPr>
            <a:r>
              <a:t>  • No sensitive data in frontend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Performance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⚡ Frontend Optimization:</a:t>
            </a:r>
          </a:p>
          <a:p>
            <a:pPr>
              <a:spcBef>
                <a:spcPts val="1200"/>
              </a:spcBef>
              <a:defRPr sz="1600"/>
            </a:pPr>
            <a:r>
              <a:t>  • Lazy loading of routes</a:t>
            </a:r>
          </a:p>
          <a:p>
            <a:pPr>
              <a:spcBef>
                <a:spcPts val="1200"/>
              </a:spcBef>
              <a:defRPr sz="1600"/>
            </a:pPr>
            <a:r>
              <a:t>  • Virtual scrolling in grid</a:t>
            </a:r>
          </a:p>
          <a:p>
            <a:pPr>
              <a:spcBef>
                <a:spcPts val="1200"/>
              </a:spcBef>
              <a:defRPr sz="1600"/>
            </a:pPr>
            <a:r>
              <a:t>  • Debounced search inputs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💾 Backend Optimization:</a:t>
            </a:r>
          </a:p>
          <a:p>
            <a:pPr>
              <a:spcBef>
                <a:spcPts val="1200"/>
              </a:spcBef>
              <a:defRPr sz="1600"/>
            </a:pPr>
            <a:r>
              <a:t>  • In-memory caching in proxy</a:t>
            </a:r>
          </a:p>
          <a:p>
            <a:pPr>
              <a:spcBef>
                <a:spcPts val="1200"/>
              </a:spcBef>
              <a:defRPr sz="1600"/>
            </a:pPr>
            <a:r>
              <a:t>  • Efficient data transformation</a:t>
            </a:r>
          </a:p>
          <a:p>
            <a:pPr>
              <a:spcBef>
                <a:spcPts val="1200"/>
              </a:spcBef>
              <a:defRPr sz="1600"/>
            </a:pPr>
            <a:r>
              <a:t>  • Query parameter filtering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🔄 Data Flow Optimization:</a:t>
            </a:r>
          </a:p>
          <a:p>
            <a:pPr>
              <a:spcBef>
                <a:spcPts val="1200"/>
              </a:spcBef>
              <a:defRPr sz="1600"/>
            </a:pPr>
            <a:r>
              <a:t>  • Single MCP query for all data</a:t>
            </a:r>
          </a:p>
          <a:p>
            <a:pPr>
              <a:spcBef>
                <a:spcPts val="1200"/>
              </a:spcBef>
              <a:defRPr sz="1600"/>
            </a:pPr>
            <a:r>
              <a:t>  • Proxy caches results</a:t>
            </a:r>
          </a:p>
          <a:p>
            <a:pPr>
              <a:spcBef>
                <a:spcPts val="1200"/>
              </a:spcBef>
              <a:defRPr sz="1600"/>
            </a:pPr>
            <a:r>
              <a:t>  • Application fetches from cache</a:t>
            </a:r>
          </a:p>
          <a:p>
            <a:pPr>
              <a:spcBef>
                <a:spcPts val="1200"/>
              </a:spcBef>
              <a:defRPr sz="1600"/>
            </a:pPr>
            <a:r>
              <a:t>  • Reduces MCP API calls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Future Enhancements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🚀 Planned Features: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Real-time Data Sync</a:t>
            </a:r>
          </a:p>
          <a:p>
            <a:pPr>
              <a:spcBef>
                <a:spcPts val="1200"/>
              </a:spcBef>
              <a:defRPr sz="1600"/>
            </a:pPr>
            <a:r>
              <a:t>  - WebSocket integration</a:t>
            </a:r>
          </a:p>
          <a:p>
            <a:pPr>
              <a:spcBef>
                <a:spcPts val="1200"/>
              </a:spcBef>
              <a:defRPr sz="1600"/>
            </a:pPr>
            <a:r>
              <a:t>  - Auto-refresh from MCP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Advanced Analytics</a:t>
            </a:r>
          </a:p>
          <a:p>
            <a:pPr>
              <a:spcBef>
                <a:spcPts val="1200"/>
              </a:spcBef>
              <a:defRPr sz="1600"/>
            </a:pPr>
            <a:r>
              <a:t>  - Dashboard with charts</a:t>
            </a:r>
          </a:p>
          <a:p>
            <a:pPr>
              <a:spcBef>
                <a:spcPts val="1200"/>
              </a:spcBef>
              <a:defRPr sz="1600"/>
            </a:pPr>
            <a:r>
              <a:t>  - Task aging reports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User Management</a:t>
            </a:r>
          </a:p>
          <a:p>
            <a:pPr>
              <a:spcBef>
                <a:spcPts val="1200"/>
              </a:spcBef>
              <a:defRPr sz="1600"/>
            </a:pPr>
            <a:r>
              <a:t>  - Role-based access control</a:t>
            </a:r>
          </a:p>
          <a:p>
            <a:pPr>
              <a:spcBef>
                <a:spcPts val="1200"/>
              </a:spcBef>
              <a:defRPr sz="1600"/>
            </a:pPr>
            <a:r>
              <a:t>  - User preferences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Enhanced Search</a:t>
            </a:r>
          </a:p>
          <a:p>
            <a:pPr>
              <a:spcBef>
                <a:spcPts val="1200"/>
              </a:spcBef>
              <a:defRPr sz="1600"/>
            </a:pPr>
            <a:r>
              <a:t>  - Full-text search</a:t>
            </a:r>
          </a:p>
          <a:p>
            <a:pPr>
              <a:spcBef>
                <a:spcPts val="1200"/>
              </a:spcBef>
              <a:defRPr sz="1600"/>
            </a:pPr>
            <a:r>
              <a:t>  - Saved search filters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Mobile Support</a:t>
            </a:r>
          </a:p>
          <a:p>
            <a:pPr>
              <a:spcBef>
                <a:spcPts val="1200"/>
              </a:spcBef>
              <a:defRPr sz="1600"/>
            </a:pPr>
            <a:r>
              <a:t>  - Responsive mobile UI</a:t>
            </a:r>
          </a:p>
          <a:p>
            <a:pPr>
              <a:spcBef>
                <a:spcPts val="1200"/>
              </a:spcBef>
              <a:defRPr sz="1600"/>
            </a:pPr>
            <a:r>
              <a:t>  - Progressive Web App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Frontend:</a:t>
            </a:r>
          </a:p>
          <a:p>
            <a:pPr>
              <a:spcBef>
                <a:spcPts val="1200"/>
              </a:spcBef>
              <a:defRPr sz="1600"/>
            </a:pPr>
            <a:r>
              <a:t>  • Angular 19</a:t>
            </a:r>
          </a:p>
          <a:p>
            <a:pPr>
              <a:spcBef>
                <a:spcPts val="1200"/>
              </a:spcBef>
              <a:defRPr sz="1600"/>
            </a:pPr>
            <a:r>
              <a:t>  • TypeScript</a:t>
            </a:r>
          </a:p>
          <a:p>
            <a:pPr>
              <a:spcBef>
                <a:spcPts val="1200"/>
              </a:spcBef>
              <a:defRPr sz="1600"/>
            </a:pPr>
            <a:r>
              <a:t>  • AG-Grid</a:t>
            </a:r>
          </a:p>
          <a:p>
            <a:pPr>
              <a:spcBef>
                <a:spcPts val="1200"/>
              </a:spcBef>
              <a:defRPr sz="1600"/>
            </a:pPr>
            <a:r>
              <a:t>  • RxJS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Backend:</a:t>
            </a:r>
          </a:p>
          <a:p>
            <a:pPr>
              <a:spcBef>
                <a:spcPts val="1200"/>
              </a:spcBef>
              <a:defRPr sz="1600"/>
            </a:pPr>
            <a:r>
              <a:t>  • Node.js 24.11.1</a:t>
            </a:r>
          </a:p>
          <a:p>
            <a:pPr>
              <a:spcBef>
                <a:spcPts val="1200"/>
              </a:spcBef>
              <a:defRPr sz="1600"/>
            </a:pPr>
            <a:r>
              <a:t>  • Express.js</a:t>
            </a:r>
          </a:p>
          <a:p>
            <a:pPr>
              <a:spcBef>
                <a:spcPts val="1200"/>
              </a:spcBef>
              <a:defRPr sz="1600"/>
            </a:pPr>
            <a:r>
              <a:t>  • Axios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MCP Integration:</a:t>
            </a:r>
          </a:p>
          <a:p>
            <a:pPr>
              <a:spcBef>
                <a:spcPts val="1200"/>
              </a:spcBef>
              <a:defRPr sz="1600"/>
            </a:pPr>
            <a:r>
              <a:t>  • IBM MCP Context Studio</a:t>
            </a:r>
          </a:p>
          <a:p>
            <a:pPr>
              <a:spcBef>
                <a:spcPts val="1200"/>
              </a:spcBef>
              <a:defRPr sz="1600"/>
            </a:pPr>
            <a:r>
              <a:t>  • Bob AI Assistant</a:t>
            </a:r>
          </a:p>
          <a:p>
            <a:pPr>
              <a:spcBef>
                <a:spcPts val="1200"/>
              </a:spcBef>
              <a:defRPr sz="1600"/>
            </a:pPr>
            <a:r>
              <a:t>  • MCP Gateway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Development Tools:</a:t>
            </a:r>
          </a:p>
          <a:p>
            <a:pPr>
              <a:spcBef>
                <a:spcPts val="1200"/>
              </a:spcBef>
              <a:defRPr sz="1600"/>
            </a:pPr>
            <a:r>
              <a:t>  • VS Code</a:t>
            </a:r>
          </a:p>
          <a:p>
            <a:pPr>
              <a:spcBef>
                <a:spcPts val="1200"/>
              </a:spcBef>
              <a:defRPr sz="1600"/>
            </a:pPr>
            <a:r>
              <a:t>  • PowerShell</a:t>
            </a:r>
          </a:p>
          <a:p>
            <a:pPr>
              <a:spcBef>
                <a:spcPts val="1200"/>
              </a:spcBef>
              <a:defRPr sz="1600"/>
            </a:pPr>
            <a:r>
              <a:t>  • Git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Success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✅ Architecture:</a:t>
            </a:r>
          </a:p>
          <a:p>
            <a:pPr>
              <a:spcBef>
                <a:spcPts val="1200"/>
              </a:spcBef>
              <a:defRPr sz="1600"/>
            </a:pPr>
            <a:r>
              <a:t>  • 3-tier separation achieved</a:t>
            </a:r>
          </a:p>
          <a:p>
            <a:pPr>
              <a:spcBef>
                <a:spcPts val="1200"/>
              </a:spcBef>
              <a:defRPr sz="1600"/>
            </a:pPr>
            <a:r>
              <a:t>  • No direct MCP calls from Node.js</a:t>
            </a:r>
          </a:p>
          <a:p>
            <a:pPr>
              <a:spcBef>
                <a:spcPts val="1200"/>
              </a:spcBef>
              <a:defRPr sz="1600"/>
            </a:pPr>
            <a:r>
              <a:t>  • Clean proxy pattern implemented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✅ Data Integration:</a:t>
            </a:r>
          </a:p>
          <a:p>
            <a:pPr>
              <a:spcBef>
                <a:spcPts val="1200"/>
              </a:spcBef>
              <a:defRPr sz="1600"/>
            </a:pPr>
            <a:r>
              <a:t>  • 14 real tasks from MCP</a:t>
            </a:r>
          </a:p>
          <a:p>
            <a:pPr>
              <a:spcBef>
                <a:spcPts val="1200"/>
              </a:spcBef>
              <a:defRPr sz="1600"/>
            </a:pPr>
            <a:r>
              <a:t>  • 3 providers with complete data</a:t>
            </a:r>
          </a:p>
          <a:p>
            <a:pPr>
              <a:spcBef>
                <a:spcPts val="1200"/>
              </a:spcBef>
              <a:defRPr sz="1600"/>
            </a:pPr>
            <a:r>
              <a:t>  • All task types represented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✅ Performance:</a:t>
            </a:r>
          </a:p>
          <a:p>
            <a:pPr>
              <a:spcBef>
                <a:spcPts val="1200"/>
              </a:spcBef>
              <a:defRPr sz="1600"/>
            </a:pPr>
            <a:r>
              <a:t>  • &lt; 1 second data load time</a:t>
            </a:r>
          </a:p>
          <a:p>
            <a:pPr>
              <a:spcBef>
                <a:spcPts val="1200"/>
              </a:spcBef>
              <a:defRPr sz="1600"/>
            </a:pPr>
            <a:r>
              <a:t>  • Efficient caching</a:t>
            </a:r>
          </a:p>
          <a:p>
            <a:pPr>
              <a:spcBef>
                <a:spcPts val="1200"/>
              </a:spcBef>
              <a:defRPr sz="1600"/>
            </a:pPr>
            <a:r>
              <a:t>  • Responsive UI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✅ Reliability:</a:t>
            </a:r>
          </a:p>
          <a:p>
            <a:pPr>
              <a:spcBef>
                <a:spcPts val="1200"/>
              </a:spcBef>
              <a:defRPr sz="1600"/>
            </a:pPr>
            <a:r>
              <a:t>  • Fallback to mock data</a:t>
            </a:r>
          </a:p>
          <a:p>
            <a:pPr>
              <a:spcBef>
                <a:spcPts val="1200"/>
              </a:spcBef>
              <a:defRPr sz="1600"/>
            </a:pPr>
            <a:r>
              <a:t>  • Error handling</a:t>
            </a:r>
          </a:p>
          <a:p>
            <a:pPr>
              <a:spcBef>
                <a:spcPts val="1200"/>
              </a:spcBef>
              <a:defRPr sz="1600"/>
            </a:pPr>
            <a:r>
              <a:t>  • Health checks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Documentation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📚 Available Documentation: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README.md</a:t>
            </a:r>
          </a:p>
          <a:p>
            <a:pPr>
              <a:spcBef>
                <a:spcPts val="1200"/>
              </a:spcBef>
              <a:defRPr sz="1600"/>
            </a:pPr>
            <a:r>
              <a:t>  - Quick start guide</a:t>
            </a:r>
          </a:p>
          <a:p>
            <a:pPr>
              <a:spcBef>
                <a:spcPts val="1200"/>
              </a:spcBef>
              <a:defRPr sz="1600"/>
            </a:pPr>
            <a:r>
              <a:t>  - Basic setup instructions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MCP_INTEGRATION_GUIDE.md</a:t>
            </a:r>
          </a:p>
          <a:p>
            <a:pPr>
              <a:spcBef>
                <a:spcPts val="1200"/>
              </a:spcBef>
              <a:defRPr sz="1600"/>
            </a:pPr>
            <a:r>
              <a:t>  - Detailed MCP setup</a:t>
            </a:r>
          </a:p>
          <a:p>
            <a:pPr>
              <a:spcBef>
                <a:spcPts val="1200"/>
              </a:spcBef>
              <a:defRPr sz="1600"/>
            </a:pPr>
            <a:r>
              <a:t>  - Configuration steps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START_APPLICATION.md</a:t>
            </a:r>
          </a:p>
          <a:p>
            <a:pPr>
              <a:spcBef>
                <a:spcPts val="1200"/>
              </a:spcBef>
              <a:defRPr sz="1600"/>
            </a:pPr>
            <a:r>
              <a:t>  - Step-by-step startup</a:t>
            </a:r>
          </a:p>
          <a:p>
            <a:pPr>
              <a:spcBef>
                <a:spcPts val="1200"/>
              </a:spcBef>
              <a:defRPr sz="1600"/>
            </a:pPr>
            <a:r>
              <a:t>  - Terminal commands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PROJECT_DOCUMENTATION.md</a:t>
            </a:r>
          </a:p>
          <a:p>
            <a:pPr>
              <a:spcBef>
                <a:spcPts val="1200"/>
              </a:spcBef>
              <a:defRPr sz="1600"/>
            </a:pPr>
            <a:r>
              <a:t>  - Complete project overview</a:t>
            </a:r>
          </a:p>
          <a:p>
            <a:pPr>
              <a:spcBef>
                <a:spcPts val="1200"/>
              </a:spcBef>
              <a:defRPr sz="1600"/>
            </a:pPr>
            <a:r>
              <a:t>  - Architecture details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This Presentation</a:t>
            </a:r>
          </a:p>
          <a:p>
            <a:pPr>
              <a:spcBef>
                <a:spcPts val="1200"/>
              </a:spcBef>
              <a:defRPr sz="1600"/>
            </a:pPr>
            <a:r>
              <a:t>  - Comprehensive guide</a:t>
            </a:r>
          </a:p>
          <a:p>
            <a:pPr>
              <a:spcBef>
                <a:spcPts val="1200"/>
              </a:spcBef>
              <a:defRPr sz="1600"/>
            </a:pPr>
            <a:r>
              <a:t>  - All functionality covered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Support &amp;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📧 Contact Information:</a:t>
            </a:r>
          </a:p>
          <a:p>
            <a:pPr>
              <a:spcBef>
                <a:spcPts val="1200"/>
              </a:spcBef>
              <a:defRPr sz="1600"/>
            </a:pPr>
            <a:r>
              <a:t>  • Email: Mahendra.Godase@ibm.com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🔗 Repository:</a:t>
            </a:r>
          </a:p>
          <a:p>
            <a:pPr>
              <a:spcBef>
                <a:spcPts val="1200"/>
              </a:spcBef>
              <a:defRPr sz="1600"/>
            </a:pPr>
            <a:r>
              <a:t>  • GitHub: MahendraGodase/DirectoryBlue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📖 MCP Resources:</a:t>
            </a:r>
          </a:p>
          <a:p>
            <a:pPr>
              <a:spcBef>
                <a:spcPts val="1200"/>
              </a:spcBef>
              <a:defRPr sz="1600"/>
            </a:pPr>
            <a:r>
              <a:t>  • Context Studio: IBM MCP Gateway</a:t>
            </a:r>
          </a:p>
          <a:p>
            <a:pPr>
              <a:spcBef>
                <a:spcPts val="1200"/>
              </a:spcBef>
              <a:defRPr sz="1600"/>
            </a:pPr>
            <a:r>
              <a:t>  • Context ID: ctx_4c0bbed92300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🛠️ Tools:</a:t>
            </a:r>
          </a:p>
          <a:p>
            <a:pPr>
              <a:spcBef>
                <a:spcPts val="1200"/>
              </a:spcBef>
              <a:defRPr sz="1600"/>
            </a:pPr>
            <a:r>
              <a:t>  • Bob AI Assistant</a:t>
            </a:r>
          </a:p>
          <a:p>
            <a:pPr>
              <a:spcBef>
                <a:spcPts val="1200"/>
              </a:spcBef>
              <a:defRPr sz="1600"/>
            </a:pPr>
            <a:r>
              <a:t>  • VS Code</a:t>
            </a:r>
          </a:p>
          <a:p>
            <a:pPr>
              <a:spcBef>
                <a:spcPts val="1200"/>
              </a:spcBef>
              <a:defRPr sz="1600"/>
            </a:pPr>
            <a:r>
              <a:t>  • Node.js 24.11.1</a:t>
            </a:r>
          </a:p>
          <a:p>
            <a:pPr>
              <a:spcBef>
                <a:spcPts val="1200"/>
              </a:spcBef>
              <a:defRPr sz="1600"/>
            </a:pPr>
            <a:r>
              <a:t>  • Angular CLI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💡 Tips:</a:t>
            </a:r>
          </a:p>
          <a:p>
            <a:pPr>
              <a:spcBef>
                <a:spcPts val="1200"/>
              </a:spcBef>
              <a:defRPr sz="1600"/>
            </a:pPr>
            <a:r>
              <a:t>  • Check terminal outputs for errors</a:t>
            </a:r>
          </a:p>
          <a:p>
            <a:pPr>
              <a:spcBef>
                <a:spcPts val="1200"/>
              </a:spcBef>
              <a:defRPr sz="1600"/>
            </a:pPr>
            <a:r>
              <a:t>  • Use health check endpoints</a:t>
            </a:r>
          </a:p>
          <a:p>
            <a:pPr>
              <a:spcBef>
                <a:spcPts val="1200"/>
              </a:spcBef>
              <a:defRPr sz="1600"/>
            </a:pPr>
            <a:r>
              <a:t>  • Review browser console logs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Quick Reference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Start Frontend:</a:t>
            </a:r>
          </a:p>
          <a:p>
            <a:pPr>
              <a:spcBef>
                <a:spcPts val="1200"/>
              </a:spcBef>
              <a:defRPr sz="1600"/>
            </a:pPr>
            <a:r>
              <a:t>  npm start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Start MCP Proxy:</a:t>
            </a:r>
          </a:p>
          <a:p>
            <a:pPr>
              <a:spcBef>
                <a:spcPts val="1200"/>
              </a:spcBef>
              <a:defRPr sz="1600"/>
            </a:pPr>
            <a:r>
              <a:t>  cd mock-backend &amp;&amp; node mcp-proxy-server.js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Start Main Backend:</a:t>
            </a:r>
          </a:p>
          <a:p>
            <a:pPr>
              <a:spcBef>
                <a:spcPts val="1200"/>
              </a:spcBef>
              <a:defRPr sz="1600"/>
            </a:pPr>
            <a:r>
              <a:t>  cd mock-backend &amp;&amp; set USE_MCP=true &amp;&amp; npm start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Check Health:</a:t>
            </a:r>
          </a:p>
          <a:p>
            <a:pPr>
              <a:spcBef>
                <a:spcPts val="1200"/>
              </a:spcBef>
              <a:defRPr sz="1600"/>
            </a:pPr>
            <a:r>
              <a:t>  curl http://localhost:3001/api/health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View MCP Data:</a:t>
            </a:r>
          </a:p>
          <a:p>
            <a:pPr>
              <a:spcBef>
                <a:spcPts val="1200"/>
              </a:spcBef>
              <a:defRPr sz="1600"/>
            </a:pPr>
            <a:r>
              <a:t>  curl http://localhost:3001/api/mcp/tasks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Kill Port 3000:</a:t>
            </a:r>
          </a:p>
          <a:p>
            <a:pPr>
              <a:spcBef>
                <a:spcPts val="1200"/>
              </a:spcBef>
              <a:defRPr sz="1600"/>
            </a:pPr>
            <a:r>
              <a:t>  Stop-Process -Id (Get-NetTCPConnection -LocalPort 3000).OwningProcess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5F7A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600"/>
            </a:pPr>
            <a:r>
              <a:t>✅ Successfully Implemented: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Three-tier architecture with MCP proxy</a:t>
            </a:r>
          </a:p>
          <a:p>
            <a:pPr>
              <a:spcBef>
                <a:spcPts val="1200"/>
              </a:spcBef>
              <a:defRPr sz="1600"/>
            </a:pPr>
            <a:r>
              <a:t>• Real data integration from Context Studio</a:t>
            </a:r>
          </a:p>
          <a:p>
            <a:pPr>
              <a:spcBef>
                <a:spcPts val="1200"/>
              </a:spcBef>
              <a:defRPr sz="1600"/>
            </a:pPr>
            <a:r>
              <a:t>• 14 provider tasks from Invetory.csv</a:t>
            </a:r>
          </a:p>
          <a:p>
            <a:pPr>
              <a:spcBef>
                <a:spcPts val="1200"/>
              </a:spcBef>
              <a:defRPr sz="1600"/>
            </a:pPr>
            <a:r>
              <a:t>• Clean separation of concerns</a:t>
            </a:r>
          </a:p>
          <a:p>
            <a:pPr>
              <a:spcBef>
                <a:spcPts val="1200"/>
              </a:spcBef>
              <a:defRPr sz="1600"/>
            </a:pPr>
            <a:r>
              <a:t>• Robust error handling and fallbacks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🎯 Key Achievements: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No direct axios calls to MCP from Node.js</a:t>
            </a:r>
          </a:p>
          <a:p>
            <a:pPr>
              <a:spcBef>
                <a:spcPts val="1200"/>
              </a:spcBef>
              <a:defRPr sz="1600"/>
            </a:pPr>
            <a:r>
              <a:t>• Bob handles all MCP authentication</a:t>
            </a:r>
          </a:p>
          <a:p>
            <a:pPr>
              <a:spcBef>
                <a:spcPts val="1200"/>
              </a:spcBef>
              <a:defRPr sz="1600"/>
            </a:pPr>
            <a:r>
              <a:t>• Application displays real provider data</a:t>
            </a:r>
          </a:p>
          <a:p>
            <a:pPr>
              <a:spcBef>
                <a:spcPts val="1200"/>
              </a:spcBef>
              <a:defRPr sz="1600"/>
            </a:pPr>
            <a:r>
              <a:t>• Scalable and maintainable architecture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🚀 Ready for Production:</a:t>
            </a:r>
          </a:p>
          <a:p>
            <a:pPr>
              <a:spcBef>
                <a:spcPts val="1200"/>
              </a:spcBef>
              <a:defRPr sz="1600"/>
            </a:pPr>
          </a:p>
          <a:p>
            <a:pPr>
              <a:spcBef>
                <a:spcPts val="1200"/>
              </a:spcBef>
              <a:defRPr sz="1600"/>
            </a:pPr>
            <a:r>
              <a:t>• All services running smoothly</a:t>
            </a:r>
          </a:p>
          <a:p>
            <a:pPr>
              <a:spcBef>
                <a:spcPts val="1200"/>
              </a:spcBef>
              <a:defRPr sz="1600"/>
            </a:pPr>
            <a:r>
              <a:t>• Comprehensive documentation</a:t>
            </a:r>
          </a:p>
          <a:p>
            <a:pPr>
              <a:spcBef>
                <a:spcPts val="1200"/>
              </a:spcBef>
              <a:defRPr sz="1600"/>
            </a:pPr>
            <a:r>
              <a:t>• Easy to deploy and maintain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5F7A"/>
                </a:solidFill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764BA2"/>
                </a:solidFill>
              </a:defRPr>
            </a:pPr>
            <a:r>
              <a:t>DirectoryBlue Application with MCP Integration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